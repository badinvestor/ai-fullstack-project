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889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5" roundtripDataSignature="AMtx7mhDxSISCsWq2mkE5LTyKBURAhua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students and set the tone: today they will leave with a working, GitHub-hosted full-stack app generated almost entirely by AI agents they control. Emphasize that this is not a passive "watch the AI do it" session — students will be typing commands, reading output, and making decisions throughout. Let them know that by the end of Class 2 they will have built something they can put on a resume.</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Distinguish Claude Code from claude.ai clearly: claude.ai is a chat interface in a browser; Claude Code is a CLI tool that has read/write access to your filesystem and can act on your project directly. Many students will have used ChatGPT or claude.ai to answer coding questions — Claude Code goes further by actually making the changes. This distinction is important because students are about to use Claude Code as an autonomous agent, not a Q&amp;A bot.</a:t>
            </a:r>
            <a:endParaRPr/>
          </a:p>
        </p:txBody>
      </p:sp>
      <p:sp>
        <p:nvSpPr>
          <p:cNvPr id="93" name="Google Shape;93;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contractor analogy explicitly: if you were building a house, you would not hire one generalist person to do electrical, plumbing, framing, and inspection. You hire specialists. Each agent in today's pipeline is a specialist. The key insight is that agents are configured with a persona and constraints, and they produce structured output that the next agent can consume — this is what makes chaining possible.</a:t>
            </a:r>
            <a:endParaRPr/>
          </a:p>
        </p:txBody>
      </p:sp>
      <p:sp>
        <p:nvSpPr>
          <p:cNvPr id="103" name="Google Shape;103;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diagram and emphasize the file names — design.md, frontend_output.md, backend_output.md, REVIEW.md. These files are the handoff points between agents. Because each agent saves its output before the next one starts, students can re-run any single agent without losing everything else. Point out two new elements in this version: (1) Step 4 automatically creates a GitHub repo and pushes all code to main — students do not need to do this manually. (2) The review agent now opens a real GitHub Pull Request with its fixes — students will review and approve it just like a professional code review workflow.</a:t>
            </a:r>
            <a:endParaRPr/>
          </a:p>
        </p:txBody>
      </p:sp>
      <p:sp>
        <p:nvSpPr>
          <p:cNvPr id="115" name="Google Shape;115;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Emphasize the "no cloud accounts" point — this removes a major source of setup friction during class. SQLite writes to a single .db file in the project folder, which means students can see and inspect it directly. Kotlin + Ktor is a modern, type-safe alternative to Node/Express — strongly-typed routes and data classes mean the compiler catches many errors before students even run the server. Exposed is a Kotlin SQL framework that maps database tables to type-safe Kotlin objects.</a:t>
            </a:r>
            <a:endParaRPr/>
          </a:p>
        </p:txBody>
      </p:sp>
      <p:sp>
        <p:nvSpPr>
          <p:cNvPr id="127" name="Google Shape;12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a show-of-hands check for each item before moving on. Have a TA circulate if available. The most common issues are Claude Code not being on PATH (fix: restart terminal after install) and Git not being configured with a name/email (fix: `git config --global user.name` and `git config --global user.email`). Budget 5 minutes here — setup problems that slip through will derail exercises later.</a:t>
            </a:r>
            <a:endParaRPr/>
          </a:p>
        </p:txBody>
      </p:sp>
      <p:sp>
        <p:nvSpPr>
          <p:cNvPr id="137" name="Google Shape;13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this live. Point out that agents run inside an interactive Claude Code session — students type `claude` to open it, then paste the instruction. Claude reads the prompt file directly (it has filesystem access), does the work, and saves the output. The key habit to build: always verify the output file exists and has the expected sections before moving to the next step. The grep command makes this a one-second check.</a:t>
            </a:r>
            <a:endParaRPr/>
          </a:p>
        </p:txBody>
      </p:sp>
      <p:sp>
        <p:nvSpPr>
          <p:cNvPr id="147" name="Google Shape;147;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Stress that design.md is not just a document — it is the input file for three other agents. If students edit it manually and introduce inconsistencies, their frontend and backend agents will produce code that does not work together. The right workflow is: if something is wrong in design.md, fix the prompt and re-run agent 01 to regenerate the file cleanly. Reinforce: every agent in the pipeline follows the same pattern — reads a file, does work, saves a file.</a:t>
            </a:r>
            <a:endParaRPr/>
          </a:p>
        </p:txBody>
      </p:sp>
      <p:sp>
        <p:nvSpPr>
          <p:cNvPr id="161" name="Google Shape;161;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section of the prompt file slowly. Point out that the system prompt is not just flavor text — it actively shapes how the model approaches the task. The constraints section is especially powerful: telling the agent what NOT to do prevents it from jumping ahead and generating code when you just need a spec. The placeholder syntax `{PROJECT_IDEA}` is a convention — in the actual invocation, students substitute their real project name using shell variable expansion or string replacement.</a:t>
            </a:r>
            <a:endParaRPr/>
          </a:p>
        </p:txBody>
      </p:sp>
      <p:sp>
        <p:nvSpPr>
          <p:cNvPr id="171" name="Google Shape;171;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Circulate and check two things: (1) that students are in the right folder before running the command, and (2) that design.md contains all three section headers after running. The grep verify command makes this fast — if it prints three lines, the file is good. On Windows the sed syntax does not work; have the PowerShell version visible. If a student's design.md is missing sections, instruct them to re-run with a more specific project description — the agent prompt file already tells them how.</a:t>
            </a:r>
            <a:endParaRPr/>
          </a:p>
        </p:txBody>
      </p:sp>
      <p:sp>
        <p:nvSpPr>
          <p:cNvPr id="183" name="Google Shape;183;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students 3 minutes to read their design.md silently, then ask 2-3 volunteers to describe what their spec contains. This normalizes the variation in output quality and gives you a chance to point out what a strong spec looks like versus a weak one. Reinforce that design.md is now their source of truth — every decision in Classes 1 and 2 flows from this document.</a:t>
            </a:r>
            <a:endParaRPr/>
          </a:p>
        </p:txBody>
      </p:sp>
      <p:sp>
        <p:nvSpPr>
          <p:cNvPr id="197" name="Google Shape;19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contains the most transferable skill in the entire course — prompt engineering for agents is not fundamentally different from prompt engineering for any LLM, but the stakes are higher because the output feeds the next step. Use the weak vs. strong example to show how specificity changes everything. Ask students: "What would happen if the weak prompt was fed to the backend agent as a component tree?" The answer: the backend agent has no idea what data to serve.</a:t>
            </a:r>
            <a:endParaRPr/>
          </a:p>
        </p:txBody>
      </p:sp>
      <p:sp>
        <p:nvSpPr>
          <p:cNvPr id="207" name="Google Shape;207;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End Class 1 on an energizing note — students should feel like they have already accomplished something real (they have a technical spec for a full-stack app, generated in minutes). Preview Class 2 with genuine excitement: the next session is where the code actually appears. Remind students to bring their laptops with design.md intact and their terminal ready to go. If time permits, take 2-3 questions.</a:t>
            </a:r>
            <a:endParaRPr/>
          </a:p>
        </p:txBody>
      </p:sp>
      <p:sp>
        <p:nvSpPr>
          <p:cNvPr id="219" name="Google Shape;219;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the parallel arrows in the diagram — the frontend and backend agents can technically run in parallel because they both read from design.md independently. In today's session students will run them sequentially for clarity, but the /build-app skill could spawn them in parallel. This is an advanced concept worth mentioning briefly — it is one of the real performance advantages of agent-based architectures over a single monolithic prompt.</a:t>
            </a:r>
            <a:endParaRPr/>
          </a:p>
        </p:txBody>
      </p:sp>
      <p:sp>
        <p:nvSpPr>
          <p:cNvPr id="229" name="Google Shape;229;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two-step pattern that repeats for agents 02, 03, and 04: first the agent saves a single markdown file with all code inside labelled blocks, then the extract script writes those blocks into the real file paths. This means students always have a backup of what the agent produced (the _output.md files) and can re-extract without re-running the agent. Point out that api.js is generated from the ## API Spec in design.md — if the spec is correct, the frontend automatically calls the right endpoints.</a:t>
            </a:r>
            <a:endParaRPr/>
          </a:p>
        </p:txBody>
      </p:sp>
      <p:sp>
        <p:nvSpPr>
          <p:cNvPr id="241" name="Google Shape;241;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both steps live. After the grep, show that each line maps to a file that will exist after extraction. After running extract_files.py, open one of the generated .jsx files and walk through it — point out that the component name, props, and api.js import all reflect what was in design.md. This is the moment where students see agent chaining produce real, navigable files rather than a wall of text.</a:t>
            </a:r>
            <a:endParaRPr/>
          </a:p>
        </p:txBody>
      </p:sp>
      <p:sp>
        <p:nvSpPr>
          <p:cNvPr id="251" name="Google Shape;251;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checkpoints to circulate for: (1) frontend_output.md exists and contains `// FILE:` lines — if it is empty or has no FILE labels, the agent did not read the prompt file correctly; (2) after extract_files.py, real .jsx files exist under frontend/src/components/. The _output.md files are valuable to keep — if a student accidentally deletes a component, they can re-run extract_files.py to restore it without re-running the agent.</a:t>
            </a:r>
            <a:endParaRPr/>
          </a:p>
        </p:txBody>
      </p:sp>
      <p:sp>
        <p:nvSpPr>
          <p:cNvPr id="265" name="Google Shape;265;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Emphasize that agent 03 reads design.md independently — it does not know about frontend_output.md at all. Both agents use design.md as their single source of truth, so the endpoints they produce are compatible without the agents ever talking to each other. The review agent will later verify that the contract held. Also flag the intentional bug now so students are not surprised: the backend prompt is designed to introduce exactly one logical error (not a compile error — the app will start and mostly work). The review agent finds it, applies the fix on a branch, and opens a PR. This is intentional — it teaches students what real code review looks like.</a:t>
            </a:r>
            <a:endParaRPr/>
          </a:p>
        </p:txBody>
      </p:sp>
      <p:sp>
        <p:nvSpPr>
          <p:cNvPr id="279" name="Google Shape;279;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extraction, open `backend/src/main/kotlin/com/app/routes/` and find a route file. Show students that the URL path in the route exactly matches the path listed in design.md's ## API Spec. This is the contract holding — the design agent wrote the spec, the backend agent implemented it without ever reading the frontend code. Ask: "How does the backend know what the frontend needs?" Answer: design.md. Do not ask students to find the intentional bug yet — that is the review agent's job.</a:t>
            </a:r>
            <a:endParaRPr/>
          </a:p>
        </p:txBody>
      </p:sp>
      <p:sp>
        <p:nvSpPr>
          <p:cNvPr id="289" name="Google Shape;289;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extraction, have students run the find command — seeing `.kt` files in the routes/ directory confirms the backend structure is correct. Remind them that backend_output.md must remain on disk because the review agent reads it directly. Warn students that the first `./gradlew run` downloads Gradle dependencies which can take 1-2 minutes — this is normal. Remind them there is an intentional bug somewhere in the backend code — the review agent will find it. Students should not go hunting for it manually; the point is to see the automated review catch it.</a:t>
            </a:r>
            <a:endParaRPr/>
          </a:p>
        </p:txBody>
      </p:sp>
      <p:sp>
        <p:nvSpPr>
          <p:cNvPr id="303" name="Google Shape;303;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first moment students see their app running in a browser — treat it as a milestone. If the UI appears but API calls fail (403 Forbidden errors in the browser console), the most likely cause is a CORS port mismatch: Vite may have started on port 5174 instead of 5173 if 5173 was already in use. Have students check the actual port Vite printed when it started, then verify that Application.kt has that port in `allowHost`. If the app shows data on some pages but wrong values on others (e.g. balance showing negative when it should be positive), that is likely the intentional bug — tell students to note it and continue; the review agent will catch it.</a:t>
            </a:r>
            <a:endParaRPr/>
          </a:p>
        </p:txBody>
      </p:sp>
      <p:sp>
        <p:nvSpPr>
          <p:cNvPr id="317" name="Google Shape;317;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Emphasize why the review agent reads three files instead of one: it needs to compare the spec (design.md) against what was actually built and check that the two implementations agree with each other. This is a genuine quality gate. After producing REVIEW.md, the agent goes further — it creates a fix branch, applies all Priority 1 and Priority 2 fixes, and opens a GitHub PR. Students will see real PR comments on their repo, just like a professional code review. The intentional bug from the backend agent will appear as a Priority 1 or Priority 2 item. Critically: the agent does NOT merge the PR. Students must read the diff, understand the fix, and approve it themselves.</a:t>
            </a:r>
            <a:endParaRPr/>
          </a:p>
        </p:txBody>
      </p:sp>
      <p:sp>
        <p:nvSpPr>
          <p:cNvPr id="329" name="Google Shape;329;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Reassure students that this is not broken tooling — the bug is deliberate. The point is to give them a realistic code review experience: something that looks correct at a glance but fails under specific conditions. After they merge the review PR, ask: "Could you tell the bug was intentional? What made it hard to spot?" This is one of the most valuable discussion moments in the course.</a:t>
            </a:r>
            <a:endParaRPr/>
          </a:p>
        </p:txBody>
      </p:sp>
      <p:sp>
        <p:nvSpPr>
          <p:cNvPr id="339" name="Google Shape;339;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a live example if possible — show the PR on GitHub, open a comment, look at the diff. Point out that this is identical to the workflow at every software company: someone opens a PR, a reviewer leaves comments, the author (in this case the review agent) explains the changes, and an approver merges. The only difference here is that the "author" is an AI agent. Ask students: "What would you do if you disagreed with a fix the review agent suggested?" This opens a good discussion about human oversight of AI-generated code.</a:t>
            </a:r>
            <a:endParaRPr/>
          </a:p>
        </p:txBody>
      </p:sp>
      <p:sp>
        <p:nvSpPr>
          <p:cNvPr id="349" name="Google Shape;349;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that the skill now does significantly more than just generate code — it also creates a GitHub repo, pushes the code, and manages the review workflow. The {{double-brace}} substitution is the mechanism that makes the skill reusable across project ideas. Emphasize that after the skill finishes, there is one action students must take manually: open the PR URL, review the diff and comments, and approve the merge. Everything else is automated.</a:t>
            </a:r>
            <a:endParaRPr/>
          </a:p>
        </p:txBody>
      </p:sp>
      <p:sp>
        <p:nvSpPr>
          <p:cNvPr id="370" name="Google Shape;370;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Circulate and make sure every student has a PR open on github.com — if the URL did not print, they can find it at github.com/THEIR_USERNAME/THEIR_REPO/pulls. The key learning moment here is reading the PR diff and matching each changed line to the corresponding PR comment. Students who spot the intentional bug before reading the fix comment have genuinely internalized code review skills. If a student disagrees with a fix the review agent suggested, that is a great discussion — what would they do instead? How would they push back on a real PR?</a:t>
            </a:r>
            <a:endParaRPr/>
          </a:p>
        </p:txBody>
      </p:sp>
      <p:sp>
        <p:nvSpPr>
          <p:cNvPr id="382" name="Google Shape;382;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volunteer demo is the emotional payoff of the entire two-session course — make sure it is a student whose app actually runs, even partially. The discussion questions are designed to surface metacognitive reflection: students should start seeing the pipeline not as magic but as a system they understand and can improve. Question 3 is particularly generative — students who suggest a test-agent, a deploy-agent, or a documentation-agent are demonstrating that they have internalized the agent-chaining model.</a:t>
            </a:r>
            <a:endParaRPr/>
          </a:p>
        </p:txBody>
      </p:sp>
      <p:sp>
        <p:nvSpPr>
          <p:cNvPr id="396" name="Google Shape;396;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End on an aspirational note: students now have a mental model and hands-on experience with multi-agent AI development that most professional engineers do not yet have. The resources listed are all free and sufficient to continue building independently. Encourage students to star the Claude Code GitHub repo and join the Discord — the community moves fast and new features ship frequently. If your institution has a follow-up course or project, mention it now while motivation is high.</a:t>
            </a:r>
            <a:endParaRPr/>
          </a:p>
        </p:txBody>
      </p:sp>
      <p:sp>
        <p:nvSpPr>
          <p:cNvPr id="408" name="Google Shape;408;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2"/>
          <p:cNvSpPr/>
          <p:nvPr>
            <p:ph idx="2" type="pic"/>
          </p:nvPr>
        </p:nvSpPr>
        <p:spPr>
          <a:xfrm>
            <a:off x="1792288" y="612775"/>
            <a:ext cx="5486400" cy="4114800"/>
          </a:xfrm>
          <a:prstGeom prst="rect">
            <a:avLst/>
          </a:prstGeom>
          <a:noFill/>
          <a:ln>
            <a:noFill/>
          </a:ln>
        </p:spPr>
      </p:sp>
      <p:sp>
        <p:nvSpPr>
          <p:cNvPr id="64" name="Google Shape;64;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84" name="Shape 84"/>
        <p:cNvGrpSpPr/>
        <p:nvPr/>
      </p:nvGrpSpPr>
      <p:grpSpPr>
        <a:xfrm>
          <a:off x="0" y="0"/>
          <a:ext cx="0" cy="0"/>
          <a:chOff x="0" y="0"/>
          <a:chExt cx="0" cy="0"/>
        </a:xfrm>
      </p:grpSpPr>
      <p:sp>
        <p:nvSpPr>
          <p:cNvPr id="85" name="Google Shape;85;p1"/>
          <p:cNvSpPr/>
          <p:nvPr/>
        </p:nvSpPr>
        <p:spPr>
          <a:xfrm>
            <a:off x="731520" y="2834640"/>
            <a:ext cx="10698480" cy="36576"/>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731520" y="1097280"/>
            <a:ext cx="10698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4EC9B0"/>
                </a:solidFill>
                <a:latin typeface="Calibri"/>
                <a:ea typeface="Calibri"/>
                <a:cs typeface="Calibri"/>
                <a:sym typeface="Calibri"/>
              </a:rPr>
              <a:t>MULTI-AGENT AI DEVELOPMENT</a:t>
            </a:r>
            <a:endParaRPr/>
          </a:p>
        </p:txBody>
      </p:sp>
      <p:sp>
        <p:nvSpPr>
          <p:cNvPr id="87" name="Google Shape;87;p1"/>
          <p:cNvSpPr txBox="1"/>
          <p:nvPr/>
        </p:nvSpPr>
        <p:spPr>
          <a:xfrm>
            <a:off x="731520" y="1554480"/>
            <a:ext cx="1069848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Building Full-Stack Apps with Multi-Agent AI</a:t>
            </a:r>
            <a:endParaRPr/>
          </a:p>
        </p:txBody>
      </p:sp>
      <p:sp>
        <p:nvSpPr>
          <p:cNvPr id="88" name="Google Shape;88;p1"/>
          <p:cNvSpPr txBox="1"/>
          <p:nvPr/>
        </p:nvSpPr>
        <p:spPr>
          <a:xfrm>
            <a:off x="731520" y="3017520"/>
            <a:ext cx="106984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CCCCCC"/>
                </a:solidFill>
                <a:latin typeface="Calibri"/>
                <a:ea typeface="Calibri"/>
                <a:cs typeface="Calibri"/>
                <a:sym typeface="Calibri"/>
              </a:rPr>
              <a:t>Course: Multi-Agent Full-Stack App Generator</a:t>
            </a:r>
            <a:endParaRPr/>
          </a:p>
        </p:txBody>
      </p:sp>
      <p:sp>
        <p:nvSpPr>
          <p:cNvPr id="89" name="Google Shape;89;p1"/>
          <p:cNvSpPr txBox="1"/>
          <p:nvPr/>
        </p:nvSpPr>
        <p:spPr>
          <a:xfrm>
            <a:off x="731520" y="3364992"/>
            <a:ext cx="10698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94" name="Shape 94"/>
        <p:cNvGrpSpPr/>
        <p:nvPr/>
      </p:nvGrpSpPr>
      <p:grpSpPr>
        <a:xfrm>
          <a:off x="0" y="0"/>
          <a:ext cx="0" cy="0"/>
          <a:chOff x="0" y="0"/>
          <a:chExt cx="0" cy="0"/>
        </a:xfrm>
      </p:grpSpPr>
      <p:sp>
        <p:nvSpPr>
          <p:cNvPr id="95" name="Google Shape;95;p2"/>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2"/>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FFFFFF"/>
                </a:solidFill>
                <a:latin typeface="Calibri"/>
                <a:ea typeface="Calibri"/>
                <a:cs typeface="Calibri"/>
                <a:sym typeface="Calibri"/>
              </a:rPr>
              <a:t>CLASS 1</a:t>
            </a:r>
            <a:endParaRPr/>
          </a:p>
        </p:txBody>
      </p:sp>
      <p:sp>
        <p:nvSpPr>
          <p:cNvPr id="97" name="Google Shape;97;p2"/>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What is Claude Code?</a:t>
            </a:r>
            <a:endParaRPr/>
          </a:p>
        </p:txBody>
      </p:sp>
      <p:sp>
        <p:nvSpPr>
          <p:cNvPr id="98" name="Google Shape;98;p2"/>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2"/>
          <p:cNvSpPr txBox="1"/>
          <p:nvPr/>
        </p:nvSpPr>
        <p:spPr>
          <a:xfrm>
            <a:off x="457200" y="1280160"/>
            <a:ext cx="11247000" cy="2067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895BF5"/>
                </a:solidFill>
                <a:latin typeface="Calibri"/>
                <a:ea typeface="Calibri"/>
                <a:cs typeface="Calibri"/>
                <a:sym typeface="Calibri"/>
              </a:rPr>
              <a:t>▸ </a:t>
            </a:r>
            <a:r>
              <a:rPr lang="en-US" sz="2300">
                <a:solidFill>
                  <a:srgbClr val="895BF5"/>
                </a:solidFill>
                <a:latin typeface="Calibri"/>
                <a:ea typeface="Calibri"/>
                <a:cs typeface="Calibri"/>
                <a:sym typeface="Calibri"/>
              </a:rPr>
              <a:t> </a:t>
            </a:r>
            <a:r>
              <a:rPr lang="en-US" sz="2300">
                <a:solidFill>
                  <a:srgbClr val="CCCCCC"/>
                </a:solidFill>
                <a:latin typeface="Calibri"/>
                <a:ea typeface="Calibri"/>
                <a:cs typeface="Calibri"/>
                <a:sym typeface="Calibri"/>
              </a:rPr>
              <a:t>A command-line AI coding assistant built by Anthropic</a:t>
            </a:r>
            <a:endParaRPr sz="2100"/>
          </a:p>
          <a:p>
            <a:pPr indent="0" lvl="0" marL="0" marR="0" rtl="0" algn="l">
              <a:spcBef>
                <a:spcPts val="400"/>
              </a:spcBef>
              <a:spcAft>
                <a:spcPts val="0"/>
              </a:spcAft>
              <a:buNone/>
            </a:pPr>
            <a:r>
              <a:rPr lang="en-US" sz="2300">
                <a:solidFill>
                  <a:srgbClr val="895BF5"/>
                </a:solidFill>
                <a:latin typeface="Calibri"/>
                <a:ea typeface="Calibri"/>
                <a:cs typeface="Calibri"/>
                <a:sym typeface="Calibri"/>
              </a:rPr>
              <a:t>▸  </a:t>
            </a:r>
            <a:r>
              <a:rPr lang="en-US" sz="2300">
                <a:solidFill>
                  <a:srgbClr val="CCCCCC"/>
                </a:solidFill>
                <a:latin typeface="Calibri"/>
                <a:ea typeface="Calibri"/>
                <a:cs typeface="Calibri"/>
                <a:sym typeface="Calibri"/>
              </a:rPr>
              <a:t>Reads and writes real files in your local project — not just chat responses</a:t>
            </a:r>
            <a:endParaRPr sz="2100"/>
          </a:p>
          <a:p>
            <a:pPr indent="0" lvl="0" marL="0" marR="0" rtl="0" algn="l">
              <a:spcBef>
                <a:spcPts val="400"/>
              </a:spcBef>
              <a:spcAft>
                <a:spcPts val="0"/>
              </a:spcAft>
              <a:buNone/>
            </a:pPr>
            <a:r>
              <a:rPr lang="en-US" sz="2300">
                <a:solidFill>
                  <a:srgbClr val="895BF5"/>
                </a:solidFill>
                <a:latin typeface="Calibri"/>
                <a:ea typeface="Calibri"/>
                <a:cs typeface="Calibri"/>
                <a:sym typeface="Calibri"/>
              </a:rPr>
              <a:t>▸  </a:t>
            </a:r>
            <a:r>
              <a:rPr lang="en-US" sz="2300">
                <a:solidFill>
                  <a:srgbClr val="CCCCCC"/>
                </a:solidFill>
                <a:latin typeface="Calibri"/>
                <a:ea typeface="Calibri"/>
                <a:cs typeface="Calibri"/>
                <a:sym typeface="Calibri"/>
              </a:rPr>
              <a:t>Understands your entire codebase as context, not just one snippet</a:t>
            </a:r>
            <a:endParaRPr sz="2100"/>
          </a:p>
          <a:p>
            <a:pPr indent="0" lvl="0" marL="0" marR="0" rtl="0" algn="l">
              <a:spcBef>
                <a:spcPts val="400"/>
              </a:spcBef>
              <a:spcAft>
                <a:spcPts val="0"/>
              </a:spcAft>
              <a:buNone/>
            </a:pPr>
            <a:r>
              <a:rPr lang="en-US" sz="2300">
                <a:solidFill>
                  <a:srgbClr val="895BF5"/>
                </a:solidFill>
                <a:latin typeface="Calibri"/>
                <a:ea typeface="Calibri"/>
                <a:cs typeface="Calibri"/>
                <a:sym typeface="Calibri"/>
              </a:rPr>
              <a:t>▸  </a:t>
            </a:r>
            <a:r>
              <a:rPr lang="en-US" sz="2300">
                <a:solidFill>
                  <a:srgbClr val="CCCCCC"/>
                </a:solidFill>
                <a:latin typeface="Calibri"/>
                <a:ea typeface="Calibri"/>
                <a:cs typeface="Calibri"/>
                <a:sym typeface="Calibri"/>
              </a:rPr>
              <a:t>Engineers use it to scaffold, refactor, review, and automate dev tasks</a:t>
            </a:r>
            <a:endParaRPr sz="2100"/>
          </a:p>
          <a:p>
            <a:pPr indent="0" lvl="0" marL="0" marR="0" rtl="0" algn="l">
              <a:spcBef>
                <a:spcPts val="400"/>
              </a:spcBef>
              <a:spcAft>
                <a:spcPts val="0"/>
              </a:spcAft>
              <a:buNone/>
            </a:pPr>
            <a:r>
              <a:rPr lang="en-US" sz="2300">
                <a:solidFill>
                  <a:srgbClr val="895BF5"/>
                </a:solidFill>
                <a:latin typeface="Calibri"/>
                <a:ea typeface="Calibri"/>
                <a:cs typeface="Calibri"/>
                <a:sym typeface="Calibri"/>
              </a:rPr>
              <a:t>▸  </a:t>
            </a:r>
            <a:r>
              <a:rPr lang="en-US" sz="2300">
                <a:solidFill>
                  <a:srgbClr val="CCCCCC"/>
                </a:solidFill>
                <a:latin typeface="Calibri"/>
                <a:ea typeface="Calibri"/>
                <a:cs typeface="Calibri"/>
                <a:sym typeface="Calibri"/>
              </a:rPr>
              <a:t>Runs in your terminal: claude — works alongside your existing tools</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04" name="Shape 104"/>
        <p:cNvGrpSpPr/>
        <p:nvPr/>
      </p:nvGrpSpPr>
      <p:grpSpPr>
        <a:xfrm>
          <a:off x="0" y="0"/>
          <a:ext cx="0" cy="0"/>
          <a:chOff x="0" y="0"/>
          <a:chExt cx="0" cy="0"/>
        </a:xfrm>
      </p:grpSpPr>
      <p:sp>
        <p:nvSpPr>
          <p:cNvPr id="105" name="Google Shape;105;p3"/>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3"/>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107" name="Google Shape;107;p3"/>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What is an AI Agent?</a:t>
            </a:r>
            <a:endParaRPr/>
          </a:p>
        </p:txBody>
      </p:sp>
      <p:sp>
        <p:nvSpPr>
          <p:cNvPr id="108" name="Google Shape;108;p3"/>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3"/>
          <p:cNvSpPr txBox="1"/>
          <p:nvPr/>
        </p:nvSpPr>
        <p:spPr>
          <a:xfrm>
            <a:off x="365760" y="1234440"/>
            <a:ext cx="4572000" cy="385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An AI given a specific role, tools, and a goal — not just a question to answer</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Analogy: hiring a specialist contractor vs. asking a friend for general advice</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A single prompt asks one question; an agent executes a multi-step workflow</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Agents can receive input from prior steps and pass structured output to the next</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Our pipeline uses four agents, each an expert in one layer of the stack</a:t>
            </a:r>
            <a:endParaRPr sz="2100"/>
          </a:p>
        </p:txBody>
      </p:sp>
      <p:sp>
        <p:nvSpPr>
          <p:cNvPr id="110" name="Google Shape;110;p3"/>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3"/>
          <p:cNvSpPr txBox="1"/>
          <p:nvPr/>
        </p:nvSpPr>
        <p:spPr>
          <a:xfrm>
            <a:off x="5074920" y="1325880"/>
            <a:ext cx="65838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4EC9B0"/>
                </a:solidFill>
                <a:latin typeface="Courier New"/>
                <a:ea typeface="Courier New"/>
                <a:cs typeface="Courier New"/>
                <a:sym typeface="Courier New"/>
              </a:rPr>
              <a:t>Single Prompt Model:</a:t>
            </a:r>
            <a:endParaRPr sz="2100"/>
          </a:p>
          <a:p>
            <a:pPr indent="0" lvl="0" marL="0" marR="0" rtl="0" algn="l">
              <a:spcBef>
                <a:spcPts val="0"/>
              </a:spcBef>
              <a:spcAft>
                <a:spcPts val="0"/>
              </a:spcAft>
              <a:buNone/>
            </a:pPr>
            <a:r>
              <a:rPr lang="en-US" sz="1600">
                <a:solidFill>
                  <a:srgbClr val="4EC9B0"/>
                </a:solidFill>
                <a:latin typeface="Courier New"/>
                <a:ea typeface="Courier New"/>
                <a:cs typeface="Courier New"/>
                <a:sym typeface="Courier New"/>
              </a:rPr>
              <a:t>  User ──► AI ──► Answer</a:t>
            </a:r>
            <a:endParaRPr sz="2100"/>
          </a:p>
          <a:p>
            <a:pPr indent="0" lvl="0" marL="0" marR="0" rtl="0" algn="l">
              <a:spcBef>
                <a:spcPts val="0"/>
              </a:spcBef>
              <a:spcAft>
                <a:spcPts val="0"/>
              </a:spcAft>
              <a:buNone/>
            </a:pPr>
            <a:r>
              <a:t/>
            </a:r>
            <a:endParaRPr sz="16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1600">
                <a:solidFill>
                  <a:srgbClr val="4EC9B0"/>
                </a:solidFill>
                <a:latin typeface="Courier New"/>
                <a:ea typeface="Courier New"/>
                <a:cs typeface="Courier New"/>
                <a:sym typeface="Courier New"/>
              </a:rPr>
              <a:t>Agent Model:</a:t>
            </a:r>
            <a:endParaRPr sz="2100"/>
          </a:p>
          <a:p>
            <a:pPr indent="0" lvl="0" marL="0" marR="0" rtl="0" algn="l">
              <a:spcBef>
                <a:spcPts val="0"/>
              </a:spcBef>
              <a:spcAft>
                <a:spcPts val="0"/>
              </a:spcAft>
              <a:buNone/>
            </a:pPr>
            <a:r>
              <a:rPr lang="en-US" sz="1600">
                <a:solidFill>
                  <a:srgbClr val="4EC9B0"/>
                </a:solidFill>
                <a:latin typeface="Courier New"/>
                <a:ea typeface="Courier New"/>
                <a:cs typeface="Courier New"/>
                <a:sym typeface="Courier New"/>
              </a:rPr>
              <a:t>  Role + Context + Tools</a:t>
            </a:r>
            <a:endParaRPr sz="2100"/>
          </a:p>
          <a:p>
            <a:pPr indent="0" lvl="0" marL="0" marR="0" rtl="0" algn="l">
              <a:spcBef>
                <a:spcPts val="0"/>
              </a:spcBef>
              <a:spcAft>
                <a:spcPts val="0"/>
              </a:spcAft>
              <a:buNone/>
            </a:pPr>
            <a:r>
              <a:rPr lang="en-US" sz="1600">
                <a:solidFill>
                  <a:srgbClr val="4EC9B0"/>
                </a:solidFill>
                <a:latin typeface="Courier New"/>
                <a:ea typeface="Courier New"/>
                <a:cs typeface="Courier New"/>
                <a:sym typeface="Courier New"/>
              </a:rPr>
              <a:t>         │</a:t>
            </a:r>
            <a:endParaRPr sz="2100"/>
          </a:p>
          <a:p>
            <a:pPr indent="0" lvl="0" marL="0" marR="0" rtl="0" algn="l">
              <a:spcBef>
                <a:spcPts val="0"/>
              </a:spcBef>
              <a:spcAft>
                <a:spcPts val="0"/>
              </a:spcAft>
              <a:buNone/>
            </a:pPr>
            <a:r>
              <a:rPr lang="en-US" sz="1600">
                <a:solidFill>
                  <a:srgbClr val="4EC9B0"/>
                </a:solidFill>
                <a:latin typeface="Courier New"/>
                <a:ea typeface="Courier New"/>
                <a:cs typeface="Courier New"/>
                <a:sym typeface="Courier New"/>
              </a:rPr>
              <a:t>         ▼</a:t>
            </a:r>
            <a:endParaRPr sz="2100"/>
          </a:p>
          <a:p>
            <a:pPr indent="0" lvl="0" marL="0" marR="0" rtl="0" algn="l">
              <a:spcBef>
                <a:spcPts val="0"/>
              </a:spcBef>
              <a:spcAft>
                <a:spcPts val="0"/>
              </a:spcAft>
              <a:buNone/>
            </a:pPr>
            <a:r>
              <a:rPr lang="en-US" sz="1600">
                <a:solidFill>
                  <a:srgbClr val="4EC9B0"/>
                </a:solidFill>
                <a:latin typeface="Courier New"/>
                <a:ea typeface="Courier New"/>
                <a:cs typeface="Courier New"/>
                <a:sym typeface="Courier New"/>
              </a:rPr>
              <a:t>  AI executes steps ──► Structured Output ──► Next Agent or User</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16" name="Shape 116"/>
        <p:cNvGrpSpPr/>
        <p:nvPr/>
      </p:nvGrpSpPr>
      <p:grpSpPr>
        <a:xfrm>
          <a:off x="0" y="0"/>
          <a:ext cx="0" cy="0"/>
          <a:chOff x="0" y="0"/>
          <a:chExt cx="0" cy="0"/>
        </a:xfrm>
      </p:grpSpPr>
      <p:sp>
        <p:nvSpPr>
          <p:cNvPr id="117" name="Google Shape;117;p4"/>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4"/>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119" name="Google Shape;119;p4"/>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The Four-Agent Pipeline</a:t>
            </a:r>
            <a:endParaRPr/>
          </a:p>
        </p:txBody>
      </p:sp>
      <p:sp>
        <p:nvSpPr>
          <p:cNvPr id="120" name="Google Shape;120;p4"/>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4"/>
          <p:cNvSpPr txBox="1"/>
          <p:nvPr/>
        </p:nvSpPr>
        <p:spPr>
          <a:xfrm>
            <a:off x="365760" y="1234440"/>
            <a:ext cx="4572000" cy="3514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rgbClr val="4EC9B0"/>
                </a:solidFill>
                <a:latin typeface="Calibri"/>
                <a:ea typeface="Calibri"/>
                <a:cs typeface="Calibri"/>
                <a:sym typeface="Calibri"/>
              </a:rPr>
              <a:t>de</a:t>
            </a:r>
            <a:r>
              <a:rPr b="1" lang="en-US" sz="1900">
                <a:solidFill>
                  <a:srgbClr val="4EC9B0"/>
                </a:solidFill>
                <a:latin typeface="Calibri"/>
                <a:ea typeface="Calibri"/>
                <a:cs typeface="Calibri"/>
                <a:sym typeface="Calibri"/>
              </a:rPr>
              <a:t>sign-agent:: </a:t>
            </a:r>
            <a:r>
              <a:rPr lang="en-US" sz="1900">
                <a:solidFill>
                  <a:srgbClr val="CCCCCC"/>
                </a:solidFill>
                <a:latin typeface="Calibri"/>
                <a:ea typeface="Calibri"/>
                <a:cs typeface="Calibri"/>
                <a:sym typeface="Calibri"/>
              </a:rPr>
              <a:t>Saves spec to `design.md` — every other agent reads this file</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frontend-agent:: </a:t>
            </a:r>
            <a:r>
              <a:rPr lang="en-US" sz="1900">
                <a:solidFill>
                  <a:srgbClr val="CCCCCC"/>
                </a:solidFill>
                <a:latin typeface="Calibri"/>
                <a:ea typeface="Calibri"/>
                <a:cs typeface="Calibri"/>
                <a:sym typeface="Calibri"/>
              </a:rPr>
              <a:t>Reads `design.md` → saves all React code to `frontend_output.md`</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backend-agent:: </a:t>
            </a:r>
            <a:r>
              <a:rPr lang="en-US" sz="1900">
                <a:solidFill>
                  <a:srgbClr val="CCCCCC"/>
                </a:solidFill>
                <a:latin typeface="Calibri"/>
                <a:ea typeface="Calibri"/>
                <a:cs typeface="Calibri"/>
                <a:sym typeface="Calibri"/>
              </a:rPr>
              <a:t>Reads `design.md` → saves all server code to `backend_output.md` *(includes one intentional bug)*</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review-agent:: </a:t>
            </a:r>
            <a:r>
              <a:rPr lang="en-US" sz="1900">
                <a:solidFill>
                  <a:srgbClr val="CCCCCC"/>
                </a:solidFill>
                <a:latin typeface="Calibri"/>
                <a:ea typeface="Calibri"/>
                <a:cs typeface="Calibri"/>
                <a:sym typeface="Calibri"/>
              </a:rPr>
              <a:t>Reads all three files → saves `REVIEW.md`, opens a fix PR on GitHub</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/build-app skill:: </a:t>
            </a:r>
            <a:r>
              <a:rPr lang="en-US" sz="1900">
                <a:solidFill>
                  <a:srgbClr val="CCCCCC"/>
                </a:solidFill>
                <a:latin typeface="Calibri"/>
                <a:ea typeface="Calibri"/>
                <a:cs typeface="Calibri"/>
                <a:sym typeface="Calibri"/>
              </a:rPr>
              <a:t>Runs all 7 steps automatically — agents, GitHub repo, PR</a:t>
            </a:r>
            <a:endParaRPr sz="1900"/>
          </a:p>
        </p:txBody>
      </p:sp>
      <p:sp>
        <p:nvSpPr>
          <p:cNvPr id="122" name="Google Shape;122;p4"/>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4"/>
          <p:cNvSpPr txBox="1"/>
          <p:nvPr/>
        </p:nvSpPr>
        <p:spPr>
          <a:xfrm>
            <a:off x="5074920" y="1325880"/>
            <a:ext cx="6583800" cy="4494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/build-app skill (7 steps)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[Your Idea]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Step 1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design-agent │ ──► SAVES: design.md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(API spec + DB schema + components)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Step 2                           ▼  Step 3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frontend-agent │                 │ backend-agent │ (+ 1 bug)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frontend_output.md              │  backend_output.md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Step 4 ──► GitHub repo created, code pushed to main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Step 5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review-agent │ ──► SAVES: REVIEW.md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 OPENS: fix/review-agent PR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(student must approve + merge)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28" name="Shape 128"/>
        <p:cNvGrpSpPr/>
        <p:nvPr/>
      </p:nvGrpSpPr>
      <p:grpSpPr>
        <a:xfrm>
          <a:off x="0" y="0"/>
          <a:ext cx="0" cy="0"/>
          <a:chOff x="0" y="0"/>
          <a:chExt cx="0" cy="0"/>
        </a:xfrm>
      </p:grpSpPr>
      <p:sp>
        <p:nvSpPr>
          <p:cNvPr id="129" name="Google Shape;129;p6"/>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6"/>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131" name="Google Shape;131;p6"/>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Tech Stack Overview</a:t>
            </a:r>
            <a:endParaRPr/>
          </a:p>
        </p:txBody>
      </p:sp>
      <p:sp>
        <p:nvSpPr>
          <p:cNvPr id="132" name="Google Shape;132;p6"/>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6"/>
          <p:cNvSpPr txBox="1"/>
          <p:nvPr/>
        </p:nvSpPr>
        <p:spPr>
          <a:xfrm>
            <a:off x="457200" y="1280160"/>
            <a:ext cx="11247000" cy="191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a:solidFill>
                  <a:srgbClr val="4EC9B0"/>
                </a:solidFill>
                <a:latin typeface="Calibri"/>
                <a:ea typeface="Calibri"/>
                <a:cs typeface="Calibri"/>
                <a:sym typeface="Calibri"/>
              </a:rPr>
              <a:t>Frontend:: </a:t>
            </a:r>
            <a:r>
              <a:rPr lang="en-US" sz="2100">
                <a:solidFill>
                  <a:srgbClr val="CCCCCC"/>
                </a:solidFill>
                <a:latin typeface="Calibri"/>
                <a:ea typeface="Calibri"/>
                <a:cs typeface="Calibri"/>
                <a:sym typeface="Calibri"/>
              </a:rPr>
              <a:t>React + Vite — fast builds, no config overhead, industry standard</a:t>
            </a:r>
            <a:endParaRPr sz="1900"/>
          </a:p>
          <a:p>
            <a:pPr indent="0" lvl="0" marL="0" marR="0" rtl="0" algn="l">
              <a:spcBef>
                <a:spcPts val="400"/>
              </a:spcBef>
              <a:spcAft>
                <a:spcPts val="0"/>
              </a:spcAft>
              <a:buNone/>
            </a:pPr>
            <a:r>
              <a:rPr b="1" lang="en-US" sz="2100">
                <a:solidFill>
                  <a:srgbClr val="4EC9B0"/>
                </a:solidFill>
                <a:latin typeface="Calibri"/>
                <a:ea typeface="Calibri"/>
                <a:cs typeface="Calibri"/>
                <a:sym typeface="Calibri"/>
              </a:rPr>
              <a:t>Backend:: </a:t>
            </a:r>
            <a:r>
              <a:rPr lang="en-US" sz="2100">
                <a:solidFill>
                  <a:srgbClr val="CCCCCC"/>
                </a:solidFill>
                <a:latin typeface="Calibri"/>
                <a:ea typeface="Calibri"/>
                <a:cs typeface="Calibri"/>
                <a:sym typeface="Calibri"/>
              </a:rPr>
              <a:t>Kotlin + Ktor + Exposed — type-safe, JVM-based REST API</a:t>
            </a:r>
            <a:endParaRPr sz="1900"/>
          </a:p>
          <a:p>
            <a:pPr indent="0" lvl="0" marL="0" marR="0" rtl="0" algn="l">
              <a:spcBef>
                <a:spcPts val="400"/>
              </a:spcBef>
              <a:spcAft>
                <a:spcPts val="0"/>
              </a:spcAft>
              <a:buNone/>
            </a:pPr>
            <a:r>
              <a:rPr b="1" lang="en-US" sz="2100">
                <a:solidFill>
                  <a:srgbClr val="4EC9B0"/>
                </a:solidFill>
                <a:latin typeface="Calibri"/>
                <a:ea typeface="Calibri"/>
                <a:cs typeface="Calibri"/>
                <a:sym typeface="Calibri"/>
              </a:rPr>
              <a:t>Database:: </a:t>
            </a:r>
            <a:r>
              <a:rPr lang="en-US" sz="2100">
                <a:solidFill>
                  <a:srgbClr val="CCCCCC"/>
                </a:solidFill>
                <a:latin typeface="Calibri"/>
                <a:ea typeface="Calibri"/>
                <a:cs typeface="Calibri"/>
                <a:sym typeface="Calibri"/>
              </a:rPr>
              <a:t>SQLite — file-based, zero install, perfect for local development</a:t>
            </a:r>
            <a:endParaRPr sz="1900"/>
          </a:p>
          <a:p>
            <a:pPr indent="0" lvl="0" marL="0" marR="0" rtl="0" algn="l">
              <a:spcBef>
                <a:spcPts val="400"/>
              </a:spcBef>
              <a:spcAft>
                <a:spcPts val="0"/>
              </a:spcAft>
              <a:buNone/>
            </a:pPr>
            <a:r>
              <a:rPr b="1" lang="en-US" sz="2100">
                <a:solidFill>
                  <a:srgbClr val="4EC9B0"/>
                </a:solidFill>
                <a:latin typeface="Calibri"/>
                <a:ea typeface="Calibri"/>
                <a:cs typeface="Calibri"/>
                <a:sym typeface="Calibri"/>
              </a:rPr>
              <a:t>Why this stack?: </a:t>
            </a:r>
            <a:r>
              <a:rPr lang="en-US" sz="2100">
                <a:solidFill>
                  <a:srgbClr val="CCCCCC"/>
                </a:solidFill>
                <a:latin typeface="Calibri"/>
                <a:ea typeface="Calibri"/>
                <a:cs typeface="Calibri"/>
                <a:sym typeface="Calibri"/>
              </a:rPr>
              <a:t>Everything runs locally — no cloud accounts, no billing, no env vars to chase</a:t>
            </a:r>
            <a:endParaRPr sz="1900"/>
          </a:p>
          <a:p>
            <a:pPr indent="0" lvl="0" marL="0" marR="0" rtl="0" algn="l">
              <a:spcBef>
                <a:spcPts val="400"/>
              </a:spcBef>
              <a:spcAft>
                <a:spcPts val="0"/>
              </a:spcAft>
              <a:buNone/>
            </a:pPr>
            <a:r>
              <a:rPr b="1" lang="en-US" sz="2100">
                <a:solidFill>
                  <a:srgbClr val="4EC9B0"/>
                </a:solidFill>
                <a:latin typeface="Calibri"/>
                <a:ea typeface="Calibri"/>
                <a:cs typeface="Calibri"/>
                <a:sym typeface="Calibri"/>
              </a:rPr>
              <a:t>Deployment-ready:: </a:t>
            </a:r>
            <a:r>
              <a:rPr lang="en-US" sz="2100">
                <a:solidFill>
                  <a:srgbClr val="CCCCCC"/>
                </a:solidFill>
                <a:latin typeface="Calibri"/>
                <a:ea typeface="Calibri"/>
                <a:cs typeface="Calibri"/>
                <a:sym typeface="Calibri"/>
              </a:rPr>
              <a:t>This same stack deploys to Railway, Render, or Fly.io with minimal changes</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38" name="Shape 138"/>
        <p:cNvGrpSpPr/>
        <p:nvPr/>
      </p:nvGrpSpPr>
      <p:grpSpPr>
        <a:xfrm>
          <a:off x="0" y="0"/>
          <a:ext cx="0" cy="0"/>
          <a:chOff x="0" y="0"/>
          <a:chExt cx="0" cy="0"/>
        </a:xfrm>
      </p:grpSpPr>
      <p:sp>
        <p:nvSpPr>
          <p:cNvPr id="139" name="Google Shape;139;p7"/>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7"/>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141" name="Google Shape;141;p7"/>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Setup Check — Verify Before We Start</a:t>
            </a:r>
            <a:endParaRPr/>
          </a:p>
        </p:txBody>
      </p:sp>
      <p:sp>
        <p:nvSpPr>
          <p:cNvPr id="142" name="Google Shape;142;p7"/>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7"/>
          <p:cNvSpPr txBox="1"/>
          <p:nvPr/>
        </p:nvSpPr>
        <p:spPr>
          <a:xfrm>
            <a:off x="365725" y="1234448"/>
            <a:ext cx="11271000" cy="266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7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 ] Claude Code CLI installed: run claude --version in terminal</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 ] GitHub repo created: new empty repo under your account, cloned locally</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 ] Node.js installed (v18+): run node --version</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 ] JDK 21+ installed: run java -version</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 ] Python 3.10+ installed: run python3 --version</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 ] Project folder ready: mkdir my-project &amp;&amp; cd my-project</a:t>
            </a:r>
            <a:endParaRPr sz="2100"/>
          </a:p>
          <a:p>
            <a:pPr indent="0" lvl="0" marL="0" marR="0" rtl="0" algn="l">
              <a:spcBef>
                <a:spcPts val="400"/>
              </a:spcBef>
              <a:spcAft>
                <a:spcPts val="0"/>
              </a:spcAft>
              <a:buNone/>
            </a:pPr>
            <a:r>
              <a:rPr lang="en-US" sz="2100">
                <a:solidFill>
                  <a:srgbClr val="895BF5"/>
                </a:solidFill>
                <a:latin typeface="Calibri"/>
                <a:ea typeface="Calibri"/>
                <a:cs typeface="Calibri"/>
                <a:sym typeface="Calibri"/>
              </a:rPr>
              <a:t>▸  </a:t>
            </a:r>
            <a:r>
              <a:rPr lang="en-US" sz="2100">
                <a:solidFill>
                  <a:srgbClr val="CCCCCC"/>
                </a:solidFill>
                <a:latin typeface="Calibri"/>
                <a:ea typeface="Calibri"/>
                <a:cs typeface="Calibri"/>
                <a:sym typeface="Calibri"/>
              </a:rPr>
              <a:t>[ ] prompts/ folder created inside project folder</a:t>
            </a:r>
            <a:endParaRPr sz="2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48" name="Shape 148"/>
        <p:cNvGrpSpPr/>
        <p:nvPr/>
      </p:nvGrpSpPr>
      <p:grpSpPr>
        <a:xfrm>
          <a:off x="0" y="0"/>
          <a:ext cx="0" cy="0"/>
          <a:chOff x="0" y="0"/>
          <a:chExt cx="0" cy="0"/>
        </a:xfrm>
      </p:grpSpPr>
      <p:sp>
        <p:nvSpPr>
          <p:cNvPr id="149" name="Google Shape;149;p8"/>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8"/>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151" name="Google Shape;151;p8"/>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Live Demo: Running Your First Agent</a:t>
            </a:r>
            <a:endParaRPr/>
          </a:p>
        </p:txBody>
      </p:sp>
      <p:sp>
        <p:nvSpPr>
          <p:cNvPr id="152" name="Google Shape;152;p8"/>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8"/>
          <p:cNvSpPr txBox="1"/>
          <p:nvPr/>
        </p:nvSpPr>
        <p:spPr>
          <a:xfrm>
            <a:off x="365760" y="1234440"/>
            <a:ext cx="4572000" cy="306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Agents run inside an interactive Claude Code session — type claude to open one</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We store prompts in .md files under prompts/ — one file per agent</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Each agent is invoked by pasting an instruction into the session</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Claude reads the prompt file and any context files, then saves output to disk</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Each saved file becomes the input for the next agent</a:t>
            </a:r>
            <a:endParaRPr sz="1800"/>
          </a:p>
        </p:txBody>
      </p:sp>
      <p:sp>
        <p:nvSpPr>
          <p:cNvPr id="154" name="Google Shape;154;p8"/>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8"/>
          <p:cNvSpPr txBox="1"/>
          <p:nvPr/>
        </p:nvSpPr>
        <p:spPr>
          <a:xfrm>
            <a:off x="5074920" y="1325880"/>
            <a:ext cx="6583680" cy="502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Step 1: open a Claude Code session in your project folder</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cd ~/my-project</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claude</a:t>
            </a:r>
            <a:endParaRPr/>
          </a:p>
        </p:txBody>
      </p:sp>
      <p:sp>
        <p:nvSpPr>
          <p:cNvPr id="156" name="Google Shape;156;p8"/>
          <p:cNvSpPr/>
          <p:nvPr/>
        </p:nvSpPr>
        <p:spPr>
          <a:xfrm>
            <a:off x="9875520" y="320040"/>
            <a:ext cx="1920240" cy="457200"/>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8"/>
          <p:cNvSpPr txBox="1"/>
          <p:nvPr/>
        </p:nvSpPr>
        <p:spPr>
          <a:xfrm>
            <a:off x="9921240" y="347472"/>
            <a:ext cx="182880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1E1E2E"/>
                </a:solidFill>
                <a:latin typeface="Calibri"/>
                <a:ea typeface="Calibri"/>
                <a:cs typeface="Calibri"/>
                <a:sym typeface="Calibri"/>
              </a:rPr>
              <a:t>▶  LIVE DEMO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62" name="Shape 162"/>
        <p:cNvGrpSpPr/>
        <p:nvPr/>
      </p:nvGrpSpPr>
      <p:grpSpPr>
        <a:xfrm>
          <a:off x="0" y="0"/>
          <a:ext cx="0" cy="0"/>
          <a:chOff x="0" y="0"/>
          <a:chExt cx="0" cy="0"/>
        </a:xfrm>
      </p:grpSpPr>
      <p:sp>
        <p:nvSpPr>
          <p:cNvPr id="163" name="Google Shape;163;p9"/>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9"/>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165" name="Google Shape;165;p9"/>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The Design Agent</a:t>
            </a:r>
            <a:endParaRPr/>
          </a:p>
        </p:txBody>
      </p:sp>
      <p:sp>
        <p:nvSpPr>
          <p:cNvPr id="166" name="Google Shape;166;p9"/>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9"/>
          <p:cNvSpPr txBox="1"/>
          <p:nvPr/>
        </p:nvSpPr>
        <p:spPr>
          <a:xfrm>
            <a:off x="457200" y="1280160"/>
            <a:ext cx="11247000" cy="27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rgbClr val="4EC9B0"/>
                </a:solidFill>
                <a:latin typeface="Calibri"/>
                <a:ea typeface="Calibri"/>
                <a:cs typeface="Calibri"/>
                <a:sym typeface="Calibri"/>
              </a:rPr>
              <a:t>Prompt file:: </a:t>
            </a:r>
            <a:r>
              <a:rPr lang="en-US" sz="1900">
                <a:solidFill>
                  <a:srgbClr val="CCCCCC"/>
                </a:solidFill>
                <a:latin typeface="Calibri"/>
                <a:ea typeface="Calibri"/>
                <a:cs typeface="Calibri"/>
                <a:sym typeface="Calibri"/>
              </a:rPr>
              <a:t>`prompts/01_design_agent.md`</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Reads:: </a:t>
            </a:r>
            <a:r>
              <a:rPr lang="en-US" sz="1900">
                <a:solidFill>
                  <a:srgbClr val="CCCCCC"/>
                </a:solidFill>
                <a:latin typeface="Calibri"/>
                <a:ea typeface="Calibri"/>
                <a:cs typeface="Calibri"/>
                <a:sym typeface="Calibri"/>
              </a:rPr>
              <a:t>Nothing — you provide the project idea on the command line</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Saves:: </a:t>
            </a:r>
            <a:r>
              <a:rPr lang="en-US" sz="1900">
                <a:solidFill>
                  <a:srgbClr val="CCCCCC"/>
                </a:solidFill>
                <a:latin typeface="Calibri"/>
                <a:ea typeface="Calibri"/>
                <a:cs typeface="Calibri"/>
                <a:sym typeface="Calibri"/>
              </a:rPr>
              <a:t>`design.md` — the shared contract every other agent depends on</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Output sections inside design.md:</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 API Spec — every endpoint: method, path, request/response shape</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 DB Schema — table names, columns, types, constraints</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 Component Tree — React components, props, which endpoints they call</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Do not hand-edit design.md after saving — re-run this agent instead</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72" name="Shape 172"/>
        <p:cNvGrpSpPr/>
        <p:nvPr/>
      </p:nvGrpSpPr>
      <p:grpSpPr>
        <a:xfrm>
          <a:off x="0" y="0"/>
          <a:ext cx="0" cy="0"/>
          <a:chOff x="0" y="0"/>
          <a:chExt cx="0" cy="0"/>
        </a:xfrm>
      </p:grpSpPr>
      <p:sp>
        <p:nvSpPr>
          <p:cNvPr id="173" name="Google Shape;173;p10"/>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0"/>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175" name="Google Shape;175;p10"/>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Design Agent Prompt Walkthrough</a:t>
            </a:r>
            <a:endParaRPr/>
          </a:p>
        </p:txBody>
      </p:sp>
      <p:sp>
        <p:nvSpPr>
          <p:cNvPr id="176" name="Google Shape;176;p10"/>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0"/>
          <p:cNvSpPr txBox="1"/>
          <p:nvPr/>
        </p:nvSpPr>
        <p:spPr>
          <a:xfrm>
            <a:off x="365760" y="1234440"/>
            <a:ext cx="4572000" cy="291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4EC9B0"/>
                </a:solidFill>
                <a:latin typeface="Calibri"/>
                <a:ea typeface="Calibri"/>
                <a:cs typeface="Calibri"/>
                <a:sym typeface="Calibri"/>
              </a:rPr>
              <a:t>System prompt section:: </a:t>
            </a:r>
            <a:r>
              <a:rPr lang="en-US" sz="1700">
                <a:solidFill>
                  <a:srgbClr val="CCCCCC"/>
                </a:solidFill>
                <a:latin typeface="Calibri"/>
                <a:ea typeface="Calibri"/>
                <a:cs typeface="Calibri"/>
                <a:sym typeface="Calibri"/>
              </a:rPr>
              <a:t>Sets the persona — "You are a senior software architect"</a:t>
            </a:r>
            <a:endParaRPr sz="1700"/>
          </a:p>
          <a:p>
            <a:pPr indent="0" lvl="0" marL="0" marR="0" rtl="0" algn="l">
              <a:spcBef>
                <a:spcPts val="400"/>
              </a:spcBef>
              <a:spcAft>
                <a:spcPts val="0"/>
              </a:spcAft>
              <a:buNone/>
            </a:pPr>
            <a:r>
              <a:rPr b="1" lang="en-US" sz="1700">
                <a:solidFill>
                  <a:srgbClr val="4EC9B0"/>
                </a:solidFill>
                <a:latin typeface="Calibri"/>
                <a:ea typeface="Calibri"/>
                <a:cs typeface="Calibri"/>
                <a:sym typeface="Calibri"/>
              </a:rPr>
              <a:t>Task section:: </a:t>
            </a:r>
            <a:r>
              <a:rPr lang="en-US" sz="1700">
                <a:solidFill>
                  <a:srgbClr val="CCCCCC"/>
                </a:solidFill>
                <a:latin typeface="Calibri"/>
                <a:ea typeface="Calibri"/>
                <a:cs typeface="Calibri"/>
                <a:sym typeface="Calibri"/>
              </a:rPr>
              <a:t>Specifies exact output format with markdown headers</a:t>
            </a:r>
            <a:endParaRPr sz="1700"/>
          </a:p>
          <a:p>
            <a:pPr indent="0" lvl="0" marL="0" marR="0" rtl="0" algn="l">
              <a:spcBef>
                <a:spcPts val="400"/>
              </a:spcBef>
              <a:spcAft>
                <a:spcPts val="0"/>
              </a:spcAft>
              <a:buNone/>
            </a:pPr>
            <a:r>
              <a:rPr b="1" lang="en-US" sz="1700">
                <a:solidFill>
                  <a:srgbClr val="4EC9B0"/>
                </a:solidFill>
                <a:latin typeface="Calibri"/>
                <a:ea typeface="Calibri"/>
                <a:cs typeface="Calibri"/>
                <a:sym typeface="Calibri"/>
              </a:rPr>
              <a:t>Context injection:: </a:t>
            </a:r>
            <a:r>
              <a:rPr lang="en-US" sz="1700">
                <a:solidFill>
                  <a:srgbClr val="CCCCCC"/>
                </a:solidFill>
                <a:latin typeface="Calibri"/>
                <a:ea typeface="Calibri"/>
                <a:cs typeface="Calibri"/>
                <a:sym typeface="Calibri"/>
              </a:rPr>
              <a:t>`{PROJECT_IDEA}` placeholder filled at runtime via `sed`</a:t>
            </a:r>
            <a:endParaRPr sz="1700"/>
          </a:p>
          <a:p>
            <a:pPr indent="0" lvl="0" marL="0" marR="0" rtl="0" algn="l">
              <a:spcBef>
                <a:spcPts val="400"/>
              </a:spcBef>
              <a:spcAft>
                <a:spcPts val="0"/>
              </a:spcAft>
              <a:buNone/>
            </a:pPr>
            <a:r>
              <a:rPr b="1" lang="en-US" sz="1700">
                <a:solidFill>
                  <a:srgbClr val="4EC9B0"/>
                </a:solidFill>
                <a:latin typeface="Calibri"/>
                <a:ea typeface="Calibri"/>
                <a:cs typeface="Calibri"/>
                <a:sym typeface="Calibri"/>
              </a:rPr>
              <a:t>Constraints section:: </a:t>
            </a:r>
            <a:r>
              <a:rPr lang="en-US" sz="1700">
                <a:solidFill>
                  <a:srgbClr val="CCCCCC"/>
                </a:solidFill>
                <a:latin typeface="Calibri"/>
                <a:ea typeface="Calibri"/>
                <a:cs typeface="Calibri"/>
                <a:sym typeface="Calibri"/>
              </a:rPr>
              <a:t>"Do not generate any code — output spec only"</a:t>
            </a:r>
            <a:endParaRPr sz="1700"/>
          </a:p>
          <a:p>
            <a:pPr indent="0" lvl="0" marL="0" marR="0" rtl="0" algn="l">
              <a:spcBef>
                <a:spcPts val="400"/>
              </a:spcBef>
              <a:spcAft>
                <a:spcPts val="0"/>
              </a:spcAft>
              <a:buNone/>
            </a:pPr>
            <a:r>
              <a:rPr b="1" lang="en-US" sz="1700">
                <a:solidFill>
                  <a:srgbClr val="4EC9B0"/>
                </a:solidFill>
                <a:latin typeface="Calibri"/>
                <a:ea typeface="Calibri"/>
                <a:cs typeface="Calibri"/>
                <a:sym typeface="Calibri"/>
              </a:rPr>
              <a:t>Output contract:: </a:t>
            </a:r>
            <a:r>
              <a:rPr lang="en-US" sz="1700">
                <a:solidFill>
                  <a:srgbClr val="CCCCCC"/>
                </a:solidFill>
                <a:latin typeface="Calibri"/>
                <a:ea typeface="Calibri"/>
                <a:cs typeface="Calibri"/>
                <a:sym typeface="Calibri"/>
              </a:rPr>
              <a:t>Each section must be present or downstream agents will fail</a:t>
            </a:r>
            <a:endParaRPr sz="1700"/>
          </a:p>
        </p:txBody>
      </p:sp>
      <p:sp>
        <p:nvSpPr>
          <p:cNvPr id="178" name="Google Shape;178;p10"/>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10"/>
          <p:cNvSpPr txBox="1"/>
          <p:nvPr/>
        </p:nvSpPr>
        <p:spPr>
          <a:xfrm>
            <a:off x="5074920" y="1325880"/>
            <a:ext cx="6583680" cy="502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&lt;!-- prompts/01_design_agent.md (excerpt) --&gt;</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System</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You are a senior software architect specializing in full-stack web applications.</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Your job is to produce a complete technical specification — no implementation code.</a:t>
            </a:r>
            <a:endParaRPr/>
          </a:p>
          <a:p>
            <a:pPr indent="0" lvl="0" marL="0" marR="0" rtl="0" algn="l">
              <a:spcBef>
                <a:spcPts val="0"/>
              </a:spcBef>
              <a:spcAft>
                <a:spcPts val="0"/>
              </a:spcAft>
              <a:buNone/>
            </a:pPr>
            <a:r>
              <a:t/>
            </a:r>
            <a:endParaRPr sz="9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Task</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Given the project idea below, output exactly three sections:</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1. ## API Spec  — list every REST endpoint with method, path, body, and response</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2. ## DB Schema — list every table with columns, types, and constraints</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3. ## Component Tree — list every React component with props and responsibilities</a:t>
            </a:r>
            <a:endParaRPr/>
          </a:p>
          <a:p>
            <a:pPr indent="0" lvl="0" marL="0" marR="0" rtl="0" algn="l">
              <a:spcBef>
                <a:spcPts val="0"/>
              </a:spcBef>
              <a:spcAft>
                <a:spcPts val="0"/>
              </a:spcAft>
              <a:buNone/>
            </a:pPr>
            <a:r>
              <a:t/>
            </a:r>
            <a:endParaRPr sz="9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Context</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Project Idea: {PROJECT_IDEA}</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Backend: Kotlin + Ktor + Exposed + SQLite</a:t>
            </a:r>
            <a:endParaRPr/>
          </a:p>
          <a:p>
            <a:pPr indent="0" lvl="0" marL="0" marR="0" rtl="0" algn="l">
              <a:spcBef>
                <a:spcPts val="0"/>
              </a:spcBef>
              <a:spcAft>
                <a:spcPts val="0"/>
              </a:spcAft>
              <a:buNone/>
            </a:pPr>
            <a:r>
              <a:t/>
            </a:r>
            <a:endParaRPr sz="9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Constraints</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Output markdown only</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Do not write any Kotlin, JavaScript, or SQL</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Every API endpoint must have a corresponding DB table or column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84" name="Shape 184"/>
        <p:cNvGrpSpPr/>
        <p:nvPr/>
      </p:nvGrpSpPr>
      <p:grpSpPr>
        <a:xfrm>
          <a:off x="0" y="0"/>
          <a:ext cx="0" cy="0"/>
          <a:chOff x="0" y="0"/>
          <a:chExt cx="0" cy="0"/>
        </a:xfrm>
      </p:grpSpPr>
      <p:sp>
        <p:nvSpPr>
          <p:cNvPr id="185" name="Google Shape;185;p11"/>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1"/>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187" name="Google Shape;187;p11"/>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Student Exercise 1 — Run the Design Agent → design.md</a:t>
            </a:r>
            <a:endParaRPr/>
          </a:p>
        </p:txBody>
      </p:sp>
      <p:sp>
        <p:nvSpPr>
          <p:cNvPr id="188" name="Google Shape;188;p11"/>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1"/>
          <p:cNvSpPr txBox="1"/>
          <p:nvPr/>
        </p:nvSpPr>
        <p:spPr>
          <a:xfrm>
            <a:off x="365760" y="1234440"/>
            <a:ext cx="4572000" cy="251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4EC9B0"/>
                </a:solidFill>
                <a:latin typeface="Calibri"/>
                <a:ea typeface="Calibri"/>
                <a:cs typeface="Calibri"/>
                <a:sym typeface="Calibri"/>
              </a:rPr>
              <a:t>Time: 10 minutes</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Clone the course repo and cd into your project folder</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Replace "Study Session Tracker" with your chosen project idea</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Run the command — output saves to design.md</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Verify all three required sections are present</a:t>
            </a:r>
            <a:endParaRPr sz="1800"/>
          </a:p>
        </p:txBody>
      </p:sp>
      <p:sp>
        <p:nvSpPr>
          <p:cNvPr id="190" name="Google Shape;190;p11"/>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11"/>
          <p:cNvSpPr txBox="1"/>
          <p:nvPr/>
        </p:nvSpPr>
        <p:spPr>
          <a:xfrm>
            <a:off x="5074920" y="1325880"/>
            <a:ext cx="6583680" cy="502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Mac / Linux</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cd ~/my-project</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claude -p "$(sed \</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-e 's|{PROJECT_IDEA}|Study Session Tracker|g' \</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prompts/01_design_agent.md)" &gt; design.md</a:t>
            </a:r>
            <a:endParaRPr/>
          </a:p>
          <a:p>
            <a:pPr indent="0" lvl="0" marL="0" marR="0" rtl="0" algn="l">
              <a:spcBef>
                <a:spcPts val="0"/>
              </a:spcBef>
              <a:spcAft>
                <a:spcPts val="0"/>
              </a:spcAft>
              <a:buNone/>
            </a:pPr>
            <a:r>
              <a:t/>
            </a:r>
            <a:endParaRPr sz="9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Verify all three sections saved correctly</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grep "^## API Spec\|^## DB Schema\|^## Component Tree" design.md</a:t>
            </a:r>
            <a:endParaRPr/>
          </a:p>
          <a:p>
            <a:pPr indent="0" lvl="0" marL="0" marR="0" rtl="0" algn="l">
              <a:spcBef>
                <a:spcPts val="0"/>
              </a:spcBef>
              <a:spcAft>
                <a:spcPts val="0"/>
              </a:spcAft>
              <a:buNone/>
            </a:pPr>
            <a:r>
              <a:t/>
            </a:r>
            <a:endParaRPr sz="9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Windows (PowerShell)</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$p = (Get-Content prompts\01_design_agent.md -Raw) `</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-replace '\{PROJECT_IDEA\}','Study Session Tracker'</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claude -p $p | Out-File -Encoding utf8 design.md</a:t>
            </a:r>
            <a:endParaRPr/>
          </a:p>
        </p:txBody>
      </p:sp>
      <p:sp>
        <p:nvSpPr>
          <p:cNvPr id="192" name="Google Shape;192;p11"/>
          <p:cNvSpPr/>
          <p:nvPr/>
        </p:nvSpPr>
        <p:spPr>
          <a:xfrm>
            <a:off x="9875520" y="320040"/>
            <a:ext cx="1920240" cy="457200"/>
          </a:xfrm>
          <a:prstGeom prst="rect">
            <a:avLst/>
          </a:prstGeom>
          <a:solidFill>
            <a:srgbClr val="FFD7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11"/>
          <p:cNvSpPr txBox="1"/>
          <p:nvPr/>
        </p:nvSpPr>
        <p:spPr>
          <a:xfrm>
            <a:off x="9921240" y="347472"/>
            <a:ext cx="182880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1E1E2E"/>
                </a:solidFill>
                <a:latin typeface="Calibri"/>
                <a:ea typeface="Calibri"/>
                <a:cs typeface="Calibri"/>
                <a:sym typeface="Calibri"/>
              </a:rPr>
              <a:t>✏  EXERCISE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198" name="Shape 198"/>
        <p:cNvGrpSpPr/>
        <p:nvPr/>
      </p:nvGrpSpPr>
      <p:grpSpPr>
        <a:xfrm>
          <a:off x="0" y="0"/>
          <a:ext cx="0" cy="0"/>
          <a:chOff x="0" y="0"/>
          <a:chExt cx="0" cy="0"/>
        </a:xfrm>
      </p:grpSpPr>
      <p:sp>
        <p:nvSpPr>
          <p:cNvPr id="199" name="Google Shape;199;p12"/>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12"/>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201" name="Google Shape;201;p12"/>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Reading the Design Output</a:t>
            </a:r>
            <a:endParaRPr/>
          </a:p>
        </p:txBody>
      </p:sp>
      <p:sp>
        <p:nvSpPr>
          <p:cNvPr id="202" name="Google Shape;202;p12"/>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2"/>
          <p:cNvSpPr txBox="1"/>
          <p:nvPr/>
        </p:nvSpPr>
        <p:spPr>
          <a:xfrm>
            <a:off x="457200" y="1280160"/>
            <a:ext cx="11247000" cy="435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4EC9B0"/>
                </a:solidFill>
                <a:latin typeface="Calibri"/>
                <a:ea typeface="Calibri"/>
                <a:cs typeface="Calibri"/>
                <a:sym typeface="Calibri"/>
              </a:rPr>
              <a:t>API Spec section — look for:</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HTTP method (GET, POST, PUT, DELETE) and path for every operation</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Request body shape — what data the frontend must send</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Response shape — what data the frontend will receive</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DB Schema section — look for:</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Table names that match your domain (e.g., sessions, habits)</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Primary keys (id INTEGER PRIMARY KEY) and foreign keys</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Data types that make sense for the data (TEXT vs INTEGER vs REAL)</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Component Tree section — look for:</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Top-level page components (e.g., Dashboard, AddItem)</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Shared components (e.g., ItemCard, NavBar)</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Props listed per component — these become your TypeScript/PropTypes contracts</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08" name="Shape 208"/>
        <p:cNvGrpSpPr/>
        <p:nvPr/>
      </p:nvGrpSpPr>
      <p:grpSpPr>
        <a:xfrm>
          <a:off x="0" y="0"/>
          <a:ext cx="0" cy="0"/>
          <a:chOff x="0" y="0"/>
          <a:chExt cx="0" cy="0"/>
        </a:xfrm>
      </p:grpSpPr>
      <p:sp>
        <p:nvSpPr>
          <p:cNvPr id="209" name="Google Shape;209;p13"/>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3"/>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211" name="Google Shape;211;p13"/>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What Makes a Good Agent Prompt?</a:t>
            </a:r>
            <a:endParaRPr/>
          </a:p>
        </p:txBody>
      </p:sp>
      <p:sp>
        <p:nvSpPr>
          <p:cNvPr id="212" name="Google Shape;212;p13"/>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3"/>
          <p:cNvSpPr txBox="1"/>
          <p:nvPr/>
        </p:nvSpPr>
        <p:spPr>
          <a:xfrm>
            <a:off x="365760" y="1234440"/>
            <a:ext cx="4572000" cy="362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4EC9B0"/>
                </a:solidFill>
                <a:latin typeface="Calibri"/>
                <a:ea typeface="Calibri"/>
                <a:cs typeface="Calibri"/>
                <a:sym typeface="Calibri"/>
              </a:rPr>
              <a:t>Specificity:: </a:t>
            </a:r>
            <a:r>
              <a:rPr lang="en-US" sz="1800">
                <a:solidFill>
                  <a:srgbClr val="CCCCCC"/>
                </a:solidFill>
                <a:latin typeface="Calibri"/>
                <a:ea typeface="Calibri"/>
                <a:cs typeface="Calibri"/>
                <a:sym typeface="Calibri"/>
              </a:rPr>
              <a:t>Vague prompts produce vague output — name exact files, formats, and fields</a:t>
            </a:r>
            <a:endParaRPr sz="1800"/>
          </a:p>
          <a:p>
            <a:pPr indent="0" lvl="0" marL="0" marR="0" rtl="0" algn="l">
              <a:spcBef>
                <a:spcPts val="400"/>
              </a:spcBef>
              <a:spcAft>
                <a:spcPts val="0"/>
              </a:spcAft>
              <a:buNone/>
            </a:pPr>
            <a:r>
              <a:rPr b="1" lang="en-US" sz="1800">
                <a:solidFill>
                  <a:srgbClr val="4EC9B0"/>
                </a:solidFill>
                <a:latin typeface="Calibri"/>
                <a:ea typeface="Calibri"/>
                <a:cs typeface="Calibri"/>
                <a:sym typeface="Calibri"/>
              </a:rPr>
              <a:t>Persona definition:: </a:t>
            </a:r>
            <a:r>
              <a:rPr lang="en-US" sz="1800">
                <a:solidFill>
                  <a:srgbClr val="CCCCCC"/>
                </a:solidFill>
                <a:latin typeface="Calibri"/>
                <a:ea typeface="Calibri"/>
                <a:cs typeface="Calibri"/>
                <a:sym typeface="Calibri"/>
              </a:rPr>
              <a:t>"You are a senior React engineer" biases output toward expert patterns</a:t>
            </a:r>
            <a:endParaRPr sz="1800"/>
          </a:p>
          <a:p>
            <a:pPr indent="0" lvl="0" marL="0" marR="0" rtl="0" algn="l">
              <a:spcBef>
                <a:spcPts val="400"/>
              </a:spcBef>
              <a:spcAft>
                <a:spcPts val="0"/>
              </a:spcAft>
              <a:buNone/>
            </a:pPr>
            <a:r>
              <a:rPr b="1" lang="en-US" sz="1800">
                <a:solidFill>
                  <a:srgbClr val="4EC9B0"/>
                </a:solidFill>
                <a:latin typeface="Calibri"/>
                <a:ea typeface="Calibri"/>
                <a:cs typeface="Calibri"/>
                <a:sym typeface="Calibri"/>
              </a:rPr>
              <a:t>Structured output contract:: </a:t>
            </a:r>
            <a:r>
              <a:rPr lang="en-US" sz="1800">
                <a:solidFill>
                  <a:srgbClr val="CCCCCC"/>
                </a:solidFill>
                <a:latin typeface="Calibri"/>
                <a:ea typeface="Calibri"/>
                <a:cs typeface="Calibri"/>
                <a:sym typeface="Calibri"/>
              </a:rPr>
              <a:t>Tell the agent exactly what sections and format you expect</a:t>
            </a:r>
            <a:endParaRPr sz="1800"/>
          </a:p>
          <a:p>
            <a:pPr indent="0" lvl="0" marL="0" marR="0" rtl="0" algn="l">
              <a:spcBef>
                <a:spcPts val="400"/>
              </a:spcBef>
              <a:spcAft>
                <a:spcPts val="0"/>
              </a:spcAft>
              <a:buNone/>
            </a:pPr>
            <a:r>
              <a:rPr b="1" lang="en-US" sz="1800">
                <a:solidFill>
                  <a:srgbClr val="4EC9B0"/>
                </a:solidFill>
                <a:latin typeface="Calibri"/>
                <a:ea typeface="Calibri"/>
                <a:cs typeface="Calibri"/>
                <a:sym typeface="Calibri"/>
              </a:rPr>
              <a:t>Context passing:: </a:t>
            </a:r>
            <a:r>
              <a:rPr lang="en-US" sz="1800">
                <a:solidFill>
                  <a:srgbClr val="CCCCCC"/>
                </a:solidFill>
                <a:latin typeface="Calibri"/>
                <a:ea typeface="Calibri"/>
                <a:cs typeface="Calibri"/>
                <a:sym typeface="Calibri"/>
              </a:rPr>
              <a:t>Include prior agent output as context — agents do not share memory</a:t>
            </a:r>
            <a:endParaRPr sz="1800"/>
          </a:p>
          <a:p>
            <a:pPr indent="0" lvl="0" marL="0" marR="0" rtl="0" algn="l">
              <a:spcBef>
                <a:spcPts val="400"/>
              </a:spcBef>
              <a:spcAft>
                <a:spcPts val="0"/>
              </a:spcAft>
              <a:buNone/>
            </a:pPr>
            <a:r>
              <a:rPr b="1" lang="en-US" sz="1800">
                <a:solidFill>
                  <a:srgbClr val="4EC9B0"/>
                </a:solidFill>
                <a:latin typeface="Calibri"/>
                <a:ea typeface="Calibri"/>
                <a:cs typeface="Calibri"/>
                <a:sym typeface="Calibri"/>
              </a:rPr>
              <a:t>Negative constraints:: </a:t>
            </a:r>
            <a:r>
              <a:rPr lang="en-US" sz="1800">
                <a:solidFill>
                  <a:srgbClr val="CCCCCC"/>
                </a:solidFill>
                <a:latin typeface="Calibri"/>
                <a:ea typeface="Calibri"/>
                <a:cs typeface="Calibri"/>
                <a:sym typeface="Calibri"/>
              </a:rPr>
              <a:t>"Do not use external libraries beyond what is listed" prevents scope creep</a:t>
            </a:r>
            <a:endParaRPr sz="1800"/>
          </a:p>
        </p:txBody>
      </p:sp>
      <p:sp>
        <p:nvSpPr>
          <p:cNvPr id="214" name="Google Shape;214;p13"/>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3"/>
          <p:cNvSpPr txBox="1"/>
          <p:nvPr/>
        </p:nvSpPr>
        <p:spPr>
          <a:xfrm>
            <a:off x="5074920" y="1325880"/>
            <a:ext cx="6583680" cy="502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&lt;!-- Example: weak vs strong prompt --&gt;</a:t>
            </a:r>
            <a:endParaRPr/>
          </a:p>
          <a:p>
            <a:pPr indent="0" lvl="0" marL="0" marR="0" rtl="0" algn="l">
              <a:spcBef>
                <a:spcPts val="0"/>
              </a:spcBef>
              <a:spcAft>
                <a:spcPts val="0"/>
              </a:spcAft>
              <a:buNone/>
            </a:pPr>
            <a:r>
              <a:t/>
            </a:r>
            <a:endParaRPr sz="9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WEAK:</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"Build me a React component for displaying items."</a:t>
            </a:r>
            <a:endParaRPr/>
          </a:p>
          <a:p>
            <a:pPr indent="0" lvl="0" marL="0" marR="0" rtl="0" algn="l">
              <a:spcBef>
                <a:spcPts val="0"/>
              </a:spcBef>
              <a:spcAft>
                <a:spcPts val="0"/>
              </a:spcAft>
              <a:buNone/>
            </a:pPr>
            <a:r>
              <a:t/>
            </a:r>
            <a:endParaRPr sz="9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STRONG:</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"You are a senior React engineer using React 18 and Vite.</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Create a functional component named ItemCard that accepts props:</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 id: number, title: string, createdAt: string, onDelete: (id) =&gt; void }.</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Use plain CSS modules. Do not use any UI library. Output only the .jsx file."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20" name="Shape 220"/>
        <p:cNvGrpSpPr/>
        <p:nvPr/>
      </p:nvGrpSpPr>
      <p:grpSpPr>
        <a:xfrm>
          <a:off x="0" y="0"/>
          <a:ext cx="0" cy="0"/>
          <a:chOff x="0" y="0"/>
          <a:chExt cx="0" cy="0"/>
        </a:xfrm>
      </p:grpSpPr>
      <p:sp>
        <p:nvSpPr>
          <p:cNvPr id="221" name="Google Shape;221;p14"/>
          <p:cNvSpPr/>
          <p:nvPr/>
        </p:nvSpPr>
        <p:spPr>
          <a:xfrm>
            <a:off x="0" y="0"/>
            <a:ext cx="2194560" cy="292608"/>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4"/>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1</a:t>
            </a:r>
            <a:endParaRPr/>
          </a:p>
        </p:txBody>
      </p:sp>
      <p:sp>
        <p:nvSpPr>
          <p:cNvPr id="223" name="Google Shape;223;p14"/>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Class 1 Wrap-Up</a:t>
            </a:r>
            <a:endParaRPr/>
          </a:p>
        </p:txBody>
      </p:sp>
      <p:sp>
        <p:nvSpPr>
          <p:cNvPr id="224" name="Google Shape;224;p14"/>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4"/>
          <p:cNvSpPr txBox="1"/>
          <p:nvPr/>
        </p:nvSpPr>
        <p:spPr>
          <a:xfrm>
            <a:off x="457200" y="1280160"/>
            <a:ext cx="11247000" cy="471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4EC9B0"/>
                </a:solidFill>
                <a:latin typeface="Calibri"/>
                <a:ea typeface="Calibri"/>
                <a:cs typeface="Calibri"/>
                <a:sym typeface="Calibri"/>
              </a:rPr>
              <a:t>Three things you learned today:</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Claude Code is a CLI tool that reads/writes real files — not just a chatbot</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The design agent produces a structured spec that every other agent depends on</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A good agent prompt has: persona, structured output contract, constraints, and context</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Your homework before Class 2:</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Keep design.md open — you will use it as input in every exercise</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Read through all three sections and flag anything that looks wrong or missing</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Optional: re-run the design agent with a more specific prompt if you want a better spec</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Preview of Class 2:</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Frontend agent builds your React components from design.md</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Backend agent builds your Kotlin API and database from design.md *(with one intentional bug)*</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Review agent audits both, creates REVIEW.md, and opens a GitHub fix PR</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/build-app skill chains all 7 steps into one command — including GitHub repo creation</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30" name="Shape 230"/>
        <p:cNvGrpSpPr/>
        <p:nvPr/>
      </p:nvGrpSpPr>
      <p:grpSpPr>
        <a:xfrm>
          <a:off x="0" y="0"/>
          <a:ext cx="0" cy="0"/>
          <a:chOff x="0" y="0"/>
          <a:chExt cx="0" cy="0"/>
        </a:xfrm>
      </p:grpSpPr>
      <p:sp>
        <p:nvSpPr>
          <p:cNvPr id="231" name="Google Shape;231;p17"/>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7"/>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233" name="Google Shape;233;p17"/>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Agent Chaining — How Agents Talk to Each Other</a:t>
            </a:r>
            <a:endParaRPr/>
          </a:p>
        </p:txBody>
      </p:sp>
      <p:sp>
        <p:nvSpPr>
          <p:cNvPr id="234" name="Google Shape;234;p17"/>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7"/>
          <p:cNvSpPr txBox="1"/>
          <p:nvPr/>
        </p:nvSpPr>
        <p:spPr>
          <a:xfrm>
            <a:off x="365760" y="1234440"/>
            <a:ext cx="4572000" cy="368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Output from Agent N becomes context input for Agent N+1</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Agents have no shared memory — context must be passed explicitly</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This is why structured output matters: unstructured output cannot be parsed reliably</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Chaining allows parallel specialization: each agent is expert in one layer</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Failure propagates: a bad spec produces bad frontend AND bad backend</a:t>
            </a:r>
            <a:endParaRPr sz="2000"/>
          </a:p>
        </p:txBody>
      </p:sp>
      <p:sp>
        <p:nvSpPr>
          <p:cNvPr id="236" name="Google Shape;236;p17"/>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17"/>
          <p:cNvSpPr txBox="1"/>
          <p:nvPr/>
        </p:nvSpPr>
        <p:spPr>
          <a:xfrm>
            <a:off x="5074920" y="1325880"/>
            <a:ext cx="6583800" cy="4155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design.md  (saved by agent 01)</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READS: design.md                            ▼  READS: design.md</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frontend-agent                              backend-agent</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SAVES:                                      ▼  SAVES:</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frontend_output.md                          backend_output.md</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(all React source                           (all server source</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as labelled blocks)                         as labelled blocks)</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extract_files.py                            ▼  extract_files.py</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frontend/src/                               backend/</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READS: design.md</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frontend_output.md</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backend_output.md</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review-agent</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SAVES:</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REVIEW.md</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42" name="Shape 242"/>
        <p:cNvGrpSpPr/>
        <p:nvPr/>
      </p:nvGrpSpPr>
      <p:grpSpPr>
        <a:xfrm>
          <a:off x="0" y="0"/>
          <a:ext cx="0" cy="0"/>
          <a:chOff x="0" y="0"/>
          <a:chExt cx="0" cy="0"/>
        </a:xfrm>
      </p:grpSpPr>
      <p:sp>
        <p:nvSpPr>
          <p:cNvPr id="243" name="Google Shape;243;p18"/>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8"/>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245" name="Google Shape;245;p18"/>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The Frontend Agent</a:t>
            </a:r>
            <a:endParaRPr/>
          </a:p>
        </p:txBody>
      </p:sp>
      <p:sp>
        <p:nvSpPr>
          <p:cNvPr id="246" name="Google Shape;246;p18"/>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8"/>
          <p:cNvSpPr txBox="1"/>
          <p:nvPr/>
        </p:nvSpPr>
        <p:spPr>
          <a:xfrm>
            <a:off x="457200" y="1280160"/>
            <a:ext cx="11247000" cy="291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4EC9B0"/>
                </a:solidFill>
                <a:latin typeface="Calibri"/>
                <a:ea typeface="Calibri"/>
                <a:cs typeface="Calibri"/>
                <a:sym typeface="Calibri"/>
              </a:rPr>
              <a:t>Prompt file:: </a:t>
            </a:r>
            <a:r>
              <a:rPr lang="en-US" sz="2000">
                <a:solidFill>
                  <a:srgbClr val="CCCCCC"/>
                </a:solidFill>
                <a:latin typeface="Calibri"/>
                <a:ea typeface="Calibri"/>
                <a:cs typeface="Calibri"/>
                <a:sym typeface="Calibri"/>
              </a:rPr>
              <a:t>`prompts/02_frontend_agent.md`</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Reads:: </a:t>
            </a:r>
            <a:r>
              <a:rPr lang="en-US" sz="2000">
                <a:solidFill>
                  <a:srgbClr val="CCCCCC"/>
                </a:solidFill>
                <a:latin typeface="Calibri"/>
                <a:ea typeface="Calibri"/>
                <a:cs typeface="Calibri"/>
                <a:sym typeface="Calibri"/>
              </a:rPr>
              <a:t>`design.md` (saved by agent 01 — must exist before running)</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Saves:: </a:t>
            </a:r>
            <a:r>
              <a:rPr lang="en-US" sz="2000">
                <a:solidFill>
                  <a:srgbClr val="CCCCCC"/>
                </a:solidFill>
                <a:latin typeface="Calibri"/>
                <a:ea typeface="Calibri"/>
                <a:cs typeface="Calibri"/>
                <a:sym typeface="Calibri"/>
              </a:rPr>
              <a:t>`frontend_output.md` — all React source files as labelled code blocks</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Extract files:: </a:t>
            </a:r>
            <a:r>
              <a:rPr lang="en-US" sz="2000">
                <a:solidFill>
                  <a:srgbClr val="CCCCCC"/>
                </a:solidFill>
                <a:latin typeface="Calibri"/>
                <a:ea typeface="Calibri"/>
                <a:cs typeface="Calibri"/>
                <a:sym typeface="Calibri"/>
              </a:rPr>
              <a:t>`python3 scripts/extract_files.py frontend_output.md`</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What gets extracted:</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frontend/src/components/ — one .jsx + .module.css per component</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frontend/src/services/api.js — fetch functions matching the API Spec exactly</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frontend/vite.config.js — proxy to backend so CORS is never an issue</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52" name="Shape 252"/>
        <p:cNvGrpSpPr/>
        <p:nvPr/>
      </p:nvGrpSpPr>
      <p:grpSpPr>
        <a:xfrm>
          <a:off x="0" y="0"/>
          <a:ext cx="0" cy="0"/>
          <a:chOff x="0" y="0"/>
          <a:chExt cx="0" cy="0"/>
        </a:xfrm>
      </p:grpSpPr>
      <p:sp>
        <p:nvSpPr>
          <p:cNvPr id="253" name="Google Shape;253;p19"/>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9"/>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255" name="Google Shape;255;p19"/>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Live Demo: Running the Frontend Agent</a:t>
            </a:r>
            <a:endParaRPr/>
          </a:p>
        </p:txBody>
      </p:sp>
      <p:sp>
        <p:nvSpPr>
          <p:cNvPr id="256" name="Google Shape;256;p19"/>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9"/>
          <p:cNvSpPr txBox="1"/>
          <p:nvPr/>
        </p:nvSpPr>
        <p:spPr>
          <a:xfrm>
            <a:off x="365760" y="1234440"/>
            <a:ext cx="4572000" cy="2042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Reads design.md → saves everything to frontend_output.md</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Then extract_files.py splits the single file into real source files</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One instruction, two minutes — then your React app exists on disk</a:t>
            </a:r>
            <a:endParaRPr sz="2000"/>
          </a:p>
        </p:txBody>
      </p:sp>
      <p:sp>
        <p:nvSpPr>
          <p:cNvPr id="258" name="Google Shape;258;p19"/>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9"/>
          <p:cNvSpPr txBox="1"/>
          <p:nvPr/>
        </p:nvSpPr>
        <p:spPr>
          <a:xfrm>
            <a:off x="5074920" y="1325880"/>
            <a:ext cx="6583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Read prompts/02_frontend_agent.md for your instructions and read</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design.md as your context. Follow the instructions and save your</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complete output to frontend_output.md.</a:t>
            </a:r>
            <a:endParaRPr sz="1700"/>
          </a:p>
        </p:txBody>
      </p:sp>
      <p:sp>
        <p:nvSpPr>
          <p:cNvPr id="260" name="Google Shape;260;p19"/>
          <p:cNvSpPr/>
          <p:nvPr/>
        </p:nvSpPr>
        <p:spPr>
          <a:xfrm>
            <a:off x="9875520" y="320040"/>
            <a:ext cx="1920240" cy="457200"/>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9"/>
          <p:cNvSpPr txBox="1"/>
          <p:nvPr/>
        </p:nvSpPr>
        <p:spPr>
          <a:xfrm>
            <a:off x="9921240" y="347472"/>
            <a:ext cx="182880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1E1E2E"/>
                </a:solidFill>
                <a:latin typeface="Calibri"/>
                <a:ea typeface="Calibri"/>
                <a:cs typeface="Calibri"/>
                <a:sym typeface="Calibri"/>
              </a:rPr>
              <a:t>▶  LIVE DEMO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66" name="Shape 266"/>
        <p:cNvGrpSpPr/>
        <p:nvPr/>
      </p:nvGrpSpPr>
      <p:grpSpPr>
        <a:xfrm>
          <a:off x="0" y="0"/>
          <a:ext cx="0" cy="0"/>
          <a:chOff x="0" y="0"/>
          <a:chExt cx="0" cy="0"/>
        </a:xfrm>
      </p:grpSpPr>
      <p:sp>
        <p:nvSpPr>
          <p:cNvPr id="267" name="Google Shape;267;p20"/>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20"/>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269" name="Google Shape;269;p20"/>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Exercise 2 — Frontend Agent → frontend_output.md → frontend/</a:t>
            </a:r>
            <a:endParaRPr/>
          </a:p>
        </p:txBody>
      </p:sp>
      <p:sp>
        <p:nvSpPr>
          <p:cNvPr id="270" name="Google Shape;270;p20"/>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20"/>
          <p:cNvSpPr txBox="1"/>
          <p:nvPr/>
        </p:nvSpPr>
        <p:spPr>
          <a:xfrm>
            <a:off x="365760" y="1234440"/>
            <a:ext cx="4572000" cy="306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4EC9B0"/>
                </a:solidFill>
                <a:latin typeface="Calibri"/>
                <a:ea typeface="Calibri"/>
                <a:cs typeface="Calibri"/>
                <a:sym typeface="Calibri"/>
              </a:rPr>
              <a:t>Time: 10 minutes</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Confirm design.md exists: grep "^## API Spec" design.md</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In your session, paste the instruction below</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Run the extract script — splits output into real files in frontend/</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Verify component files and api.js exist on disk</a:t>
            </a:r>
            <a:endParaRPr sz="2000"/>
          </a:p>
        </p:txBody>
      </p:sp>
      <p:sp>
        <p:nvSpPr>
          <p:cNvPr id="272" name="Google Shape;272;p20"/>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20"/>
          <p:cNvSpPr txBox="1"/>
          <p:nvPr/>
        </p:nvSpPr>
        <p:spPr>
          <a:xfrm>
            <a:off x="5074920" y="1325880"/>
            <a:ext cx="6583800" cy="69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4EC9B0"/>
                </a:solidFill>
                <a:latin typeface="Courier New"/>
                <a:ea typeface="Courier New"/>
                <a:cs typeface="Courier New"/>
                <a:sym typeface="Courier New"/>
              </a:rPr>
              <a:t>Read prompts/02_frontend_agent.md for your instructions and read</a:t>
            </a:r>
            <a:endParaRPr sz="1800"/>
          </a:p>
          <a:p>
            <a:pPr indent="0" lvl="0" marL="0" marR="0" rtl="0" algn="l">
              <a:spcBef>
                <a:spcPts val="0"/>
              </a:spcBef>
              <a:spcAft>
                <a:spcPts val="0"/>
              </a:spcAft>
              <a:buNone/>
            </a:pPr>
            <a:r>
              <a:rPr lang="en-US" sz="1300">
                <a:solidFill>
                  <a:srgbClr val="4EC9B0"/>
                </a:solidFill>
                <a:latin typeface="Courier New"/>
                <a:ea typeface="Courier New"/>
                <a:cs typeface="Courier New"/>
                <a:sym typeface="Courier New"/>
              </a:rPr>
              <a:t>design.md as your context. Follow the instructions and save your</a:t>
            </a:r>
            <a:endParaRPr sz="1800"/>
          </a:p>
          <a:p>
            <a:pPr indent="0" lvl="0" marL="0" marR="0" rtl="0" algn="l">
              <a:spcBef>
                <a:spcPts val="0"/>
              </a:spcBef>
              <a:spcAft>
                <a:spcPts val="0"/>
              </a:spcAft>
              <a:buNone/>
            </a:pPr>
            <a:r>
              <a:rPr lang="en-US" sz="1300">
                <a:solidFill>
                  <a:srgbClr val="4EC9B0"/>
                </a:solidFill>
                <a:latin typeface="Courier New"/>
                <a:ea typeface="Courier New"/>
                <a:cs typeface="Courier New"/>
                <a:sym typeface="Courier New"/>
              </a:rPr>
              <a:t>complete output to frontend_output.md.</a:t>
            </a:r>
            <a:endParaRPr sz="1800"/>
          </a:p>
        </p:txBody>
      </p:sp>
      <p:sp>
        <p:nvSpPr>
          <p:cNvPr id="274" name="Google Shape;274;p20"/>
          <p:cNvSpPr/>
          <p:nvPr/>
        </p:nvSpPr>
        <p:spPr>
          <a:xfrm>
            <a:off x="9875520" y="320040"/>
            <a:ext cx="1920240" cy="457200"/>
          </a:xfrm>
          <a:prstGeom prst="rect">
            <a:avLst/>
          </a:prstGeom>
          <a:solidFill>
            <a:srgbClr val="FFD7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20"/>
          <p:cNvSpPr txBox="1"/>
          <p:nvPr/>
        </p:nvSpPr>
        <p:spPr>
          <a:xfrm>
            <a:off x="9921240" y="347472"/>
            <a:ext cx="182880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1E1E2E"/>
                </a:solidFill>
                <a:latin typeface="Calibri"/>
                <a:ea typeface="Calibri"/>
                <a:cs typeface="Calibri"/>
                <a:sym typeface="Calibri"/>
              </a:rPr>
              <a:t>✏  EXERCISE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80" name="Shape 280"/>
        <p:cNvGrpSpPr/>
        <p:nvPr/>
      </p:nvGrpSpPr>
      <p:grpSpPr>
        <a:xfrm>
          <a:off x="0" y="0"/>
          <a:ext cx="0" cy="0"/>
          <a:chOff x="0" y="0"/>
          <a:chExt cx="0" cy="0"/>
        </a:xfrm>
      </p:grpSpPr>
      <p:sp>
        <p:nvSpPr>
          <p:cNvPr id="281" name="Google Shape;281;p21"/>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21"/>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283" name="Google Shape;283;p21"/>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The Backend Agent</a:t>
            </a:r>
            <a:endParaRPr/>
          </a:p>
        </p:txBody>
      </p:sp>
      <p:sp>
        <p:nvSpPr>
          <p:cNvPr id="284" name="Google Shape;284;p21"/>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1"/>
          <p:cNvSpPr txBox="1"/>
          <p:nvPr/>
        </p:nvSpPr>
        <p:spPr>
          <a:xfrm>
            <a:off x="457200" y="1280160"/>
            <a:ext cx="11247120" cy="5212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4EC9B0"/>
                </a:solidFill>
                <a:latin typeface="Calibri"/>
                <a:ea typeface="Calibri"/>
                <a:cs typeface="Calibri"/>
                <a:sym typeface="Calibri"/>
              </a:rPr>
              <a:t>Prompt file:: </a:t>
            </a:r>
            <a:r>
              <a:rPr lang="en-US" sz="1400">
                <a:solidFill>
                  <a:srgbClr val="CCCCCC"/>
                </a:solidFill>
                <a:latin typeface="Calibri"/>
                <a:ea typeface="Calibri"/>
                <a:cs typeface="Calibri"/>
                <a:sym typeface="Calibri"/>
              </a:rPr>
              <a:t>`prompts/03_backend_agent.md`</a:t>
            </a:r>
            <a:endParaRPr/>
          </a:p>
          <a:p>
            <a:pPr indent="0" lvl="0" marL="0" marR="0" rtl="0" algn="l">
              <a:spcBef>
                <a:spcPts val="400"/>
              </a:spcBef>
              <a:spcAft>
                <a:spcPts val="0"/>
              </a:spcAft>
              <a:buNone/>
            </a:pPr>
            <a:r>
              <a:rPr b="1" lang="en-US" sz="1400">
                <a:solidFill>
                  <a:srgbClr val="4EC9B0"/>
                </a:solidFill>
                <a:latin typeface="Calibri"/>
                <a:ea typeface="Calibri"/>
                <a:cs typeface="Calibri"/>
                <a:sym typeface="Calibri"/>
              </a:rPr>
              <a:t>Reads:: </a:t>
            </a:r>
            <a:r>
              <a:rPr lang="en-US" sz="1400">
                <a:solidFill>
                  <a:srgbClr val="CCCCCC"/>
                </a:solidFill>
                <a:latin typeface="Calibri"/>
                <a:ea typeface="Calibri"/>
                <a:cs typeface="Calibri"/>
                <a:sym typeface="Calibri"/>
              </a:rPr>
              <a:t>`design.md` — the same file agent 02 used (agents are independent)</a:t>
            </a:r>
            <a:endParaRPr/>
          </a:p>
          <a:p>
            <a:pPr indent="0" lvl="0" marL="0" marR="0" rtl="0" algn="l">
              <a:spcBef>
                <a:spcPts val="400"/>
              </a:spcBef>
              <a:spcAft>
                <a:spcPts val="0"/>
              </a:spcAft>
              <a:buNone/>
            </a:pPr>
            <a:r>
              <a:rPr b="1" lang="en-US" sz="1400">
                <a:solidFill>
                  <a:srgbClr val="4EC9B0"/>
                </a:solidFill>
                <a:latin typeface="Calibri"/>
                <a:ea typeface="Calibri"/>
                <a:cs typeface="Calibri"/>
                <a:sym typeface="Calibri"/>
              </a:rPr>
              <a:t>Saves:: </a:t>
            </a:r>
            <a:r>
              <a:rPr lang="en-US" sz="1400">
                <a:solidFill>
                  <a:srgbClr val="CCCCCC"/>
                </a:solidFill>
                <a:latin typeface="Calibri"/>
                <a:ea typeface="Calibri"/>
                <a:cs typeface="Calibri"/>
                <a:sym typeface="Calibri"/>
              </a:rPr>
              <a:t>`backend_output.md` — all server source files as labelled code blocks</a:t>
            </a:r>
            <a:endParaRPr/>
          </a:p>
          <a:p>
            <a:pPr indent="0" lvl="0" marL="0" marR="0" rtl="0" algn="l">
              <a:spcBef>
                <a:spcPts val="400"/>
              </a:spcBef>
              <a:spcAft>
                <a:spcPts val="0"/>
              </a:spcAft>
              <a:buNone/>
            </a:pPr>
            <a:r>
              <a:rPr b="1" lang="en-US" sz="1400">
                <a:solidFill>
                  <a:srgbClr val="4EC9B0"/>
                </a:solidFill>
                <a:latin typeface="Calibri"/>
                <a:ea typeface="Calibri"/>
                <a:cs typeface="Calibri"/>
                <a:sym typeface="Calibri"/>
              </a:rPr>
              <a:t>Extract files:: </a:t>
            </a:r>
            <a:r>
              <a:rPr lang="en-US" sz="1400">
                <a:solidFill>
                  <a:srgbClr val="CCCCCC"/>
                </a:solidFill>
                <a:latin typeface="Calibri"/>
                <a:ea typeface="Calibri"/>
                <a:cs typeface="Calibri"/>
                <a:sym typeface="Calibri"/>
              </a:rPr>
              <a:t>`python3 scripts/extract_files.py backend_output.md`</a:t>
            </a:r>
            <a:endParaRPr/>
          </a:p>
          <a:p>
            <a:pPr indent="0" lvl="0" marL="0" marR="0" rtl="0" algn="l">
              <a:spcBef>
                <a:spcPts val="400"/>
              </a:spcBef>
              <a:spcAft>
                <a:spcPts val="0"/>
              </a:spcAft>
              <a:buNone/>
            </a:pPr>
            <a:r>
              <a:rPr b="1" lang="en-US" sz="1400">
                <a:solidFill>
                  <a:srgbClr val="4EC9B0"/>
                </a:solidFill>
                <a:latin typeface="Calibri"/>
                <a:ea typeface="Calibri"/>
                <a:cs typeface="Calibri"/>
                <a:sym typeface="Calibri"/>
              </a:rPr>
              <a:t>Extracts to:: </a:t>
            </a:r>
            <a:r>
              <a:rPr lang="en-US" sz="1400">
                <a:solidFill>
                  <a:srgbClr val="CCCCCC"/>
                </a:solidFill>
                <a:latin typeface="Calibri"/>
                <a:ea typeface="Calibri"/>
                <a:cs typeface="Calibri"/>
                <a:sym typeface="Calibri"/>
              </a:rPr>
              <a:t>`backend/src/main/kotlin/com/app/` — standard Gradle/Kotlin layout</a:t>
            </a:r>
            <a:endParaRPr/>
          </a:p>
          <a:p>
            <a:pPr indent="0" lvl="0" marL="0" marR="0" rtl="0" algn="l">
              <a:spcBef>
                <a:spcPts val="400"/>
              </a:spcBef>
              <a:spcAft>
                <a:spcPts val="0"/>
              </a:spcAft>
              <a:buNone/>
            </a:pPr>
            <a:r>
              <a:rPr b="1" lang="en-US" sz="1400">
                <a:solidFill>
                  <a:srgbClr val="4EC9B0"/>
                </a:solidFill>
                <a:latin typeface="Calibri"/>
                <a:ea typeface="Calibri"/>
                <a:cs typeface="Calibri"/>
                <a:sym typeface="Calibri"/>
              </a:rPr>
              <a:t>Key files:: </a:t>
            </a:r>
            <a:r>
              <a:rPr lang="en-US" sz="1400">
                <a:solidFill>
                  <a:srgbClr val="CCCCCC"/>
                </a:solidFill>
                <a:latin typeface="Calibri"/>
                <a:ea typeface="Calibri"/>
                <a:cs typeface="Calibri"/>
                <a:sym typeface="Calibri"/>
              </a:rPr>
              <a:t>`Application.kt`, `DatabaseFactory.kt`, `models/`, `routes/`</a:t>
            </a:r>
            <a:endParaRPr/>
          </a:p>
          <a:p>
            <a:pPr indent="0" lvl="0" marL="0" marR="0" rtl="0" algn="l">
              <a:spcBef>
                <a:spcPts val="400"/>
              </a:spcBef>
              <a:spcAft>
                <a:spcPts val="0"/>
              </a:spcAft>
              <a:buNone/>
            </a:pPr>
            <a:r>
              <a:rPr lang="en-US" sz="1400">
                <a:solidFill>
                  <a:srgbClr val="895BF5"/>
                </a:solidFill>
                <a:latin typeface="Calibri"/>
                <a:ea typeface="Calibri"/>
                <a:cs typeface="Calibri"/>
                <a:sym typeface="Calibri"/>
              </a:rPr>
              <a:t>▸  </a:t>
            </a:r>
            <a:r>
              <a:rPr lang="en-US" sz="1400">
                <a:solidFill>
                  <a:srgbClr val="CCCCCC"/>
                </a:solidFill>
                <a:latin typeface="Calibri"/>
                <a:ea typeface="Calibri"/>
                <a:cs typeface="Calibri"/>
                <a:sym typeface="Calibri"/>
              </a:rPr>
              <a:t>SQLite at backend/data/app.db, CORS for localhost:5173, 3 seed rows</a:t>
            </a:r>
            <a:endParaRPr/>
          </a:p>
          <a:p>
            <a:pPr indent="0" lvl="0" marL="0" marR="0" rtl="0" algn="l">
              <a:spcBef>
                <a:spcPts val="400"/>
              </a:spcBef>
              <a:spcAft>
                <a:spcPts val="0"/>
              </a:spcAft>
              <a:buNone/>
            </a:pPr>
            <a:r>
              <a:rPr b="1" lang="en-US" sz="1400">
                <a:solidFill>
                  <a:srgbClr val="4EC9B0"/>
                </a:solidFill>
                <a:latin typeface="Calibri"/>
                <a:ea typeface="Calibri"/>
                <a:cs typeface="Calibri"/>
                <a:sym typeface="Calibri"/>
              </a:rPr>
              <a:t>⚠️ The backend agent intentionally introduces one logical bug: </a:t>
            </a:r>
            <a:r>
              <a:rPr lang="en-US" sz="1400">
                <a:solidFill>
                  <a:srgbClr val="CCCCCC"/>
                </a:solidFill>
                <a:latin typeface="Calibri"/>
                <a:ea typeface="Calibri"/>
                <a:cs typeface="Calibri"/>
                <a:sym typeface="Calibri"/>
              </a:rPr>
              <a:t>— the review agent will find and fix it via a GitHub PR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290" name="Shape 290"/>
        <p:cNvGrpSpPr/>
        <p:nvPr/>
      </p:nvGrpSpPr>
      <p:grpSpPr>
        <a:xfrm>
          <a:off x="0" y="0"/>
          <a:ext cx="0" cy="0"/>
          <a:chOff x="0" y="0"/>
          <a:chExt cx="0" cy="0"/>
        </a:xfrm>
      </p:grpSpPr>
      <p:sp>
        <p:nvSpPr>
          <p:cNvPr id="291" name="Google Shape;291;p22"/>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22"/>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293" name="Google Shape;293;p22"/>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Live Demo: Running the Backend Agent</a:t>
            </a:r>
            <a:endParaRPr/>
          </a:p>
        </p:txBody>
      </p:sp>
      <p:sp>
        <p:nvSpPr>
          <p:cNvPr id="294" name="Google Shape;294;p22"/>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22"/>
          <p:cNvSpPr txBox="1"/>
          <p:nvPr/>
        </p:nvSpPr>
        <p:spPr>
          <a:xfrm>
            <a:off x="365760" y="1234440"/>
            <a:ext cx="4572000" cy="5303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895BF5"/>
                </a:solidFill>
                <a:latin typeface="Calibri"/>
                <a:ea typeface="Calibri"/>
                <a:cs typeface="Calibri"/>
                <a:sym typeface="Calibri"/>
              </a:rPr>
              <a:t>▸  </a:t>
            </a:r>
            <a:r>
              <a:rPr lang="en-US" sz="1400">
                <a:solidFill>
                  <a:srgbClr val="CCCCCC"/>
                </a:solidFill>
                <a:latin typeface="Calibri"/>
                <a:ea typeface="Calibri"/>
                <a:cs typeface="Calibri"/>
                <a:sym typeface="Calibri"/>
              </a:rPr>
              <a:t>Same pattern as agent 02 — instruction → saves backend_output.md → extract</a:t>
            </a:r>
            <a:endParaRPr/>
          </a:p>
          <a:p>
            <a:pPr indent="0" lvl="0" marL="0" marR="0" rtl="0" algn="l">
              <a:spcBef>
                <a:spcPts val="400"/>
              </a:spcBef>
              <a:spcAft>
                <a:spcPts val="0"/>
              </a:spcAft>
              <a:buNone/>
            </a:pPr>
            <a:r>
              <a:rPr lang="en-US" sz="1400">
                <a:solidFill>
                  <a:srgbClr val="895BF5"/>
                </a:solidFill>
                <a:latin typeface="Calibri"/>
                <a:ea typeface="Calibri"/>
                <a:cs typeface="Calibri"/>
                <a:sym typeface="Calibri"/>
              </a:rPr>
              <a:t>▸  </a:t>
            </a:r>
            <a:r>
              <a:rPr lang="en-US" sz="1400">
                <a:solidFill>
                  <a:srgbClr val="CCCCCC"/>
                </a:solidFill>
                <a:latin typeface="Calibri"/>
                <a:ea typeface="Calibri"/>
                <a:cs typeface="Calibri"/>
                <a:sym typeface="Calibri"/>
              </a:rPr>
              <a:t>design.md is the context — same file, same contract as the frontend agent</a:t>
            </a:r>
            <a:endParaRPr/>
          </a:p>
          <a:p>
            <a:pPr indent="0" lvl="0" marL="0" marR="0" rtl="0" algn="l">
              <a:spcBef>
                <a:spcPts val="400"/>
              </a:spcBef>
              <a:spcAft>
                <a:spcPts val="0"/>
              </a:spcAft>
              <a:buNone/>
            </a:pPr>
            <a:r>
              <a:rPr lang="en-US" sz="1400">
                <a:solidFill>
                  <a:srgbClr val="895BF5"/>
                </a:solidFill>
                <a:latin typeface="Calibri"/>
                <a:ea typeface="Calibri"/>
                <a:cs typeface="Calibri"/>
                <a:sym typeface="Calibri"/>
              </a:rPr>
              <a:t>▸  </a:t>
            </a:r>
            <a:r>
              <a:rPr lang="en-US" sz="1400">
                <a:solidFill>
                  <a:srgbClr val="CCCCCC"/>
                </a:solidFill>
                <a:latin typeface="Calibri"/>
                <a:ea typeface="Calibri"/>
                <a:cs typeface="Calibri"/>
                <a:sym typeface="Calibri"/>
              </a:rPr>
              <a:t>Backend is Kotlin + Ktor; first ./gradlew run downloads dependencies (~1-2 min)</a:t>
            </a:r>
            <a:endParaRPr/>
          </a:p>
        </p:txBody>
      </p:sp>
      <p:sp>
        <p:nvSpPr>
          <p:cNvPr id="296" name="Google Shape;296;p22"/>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22"/>
          <p:cNvSpPr txBox="1"/>
          <p:nvPr/>
        </p:nvSpPr>
        <p:spPr>
          <a:xfrm>
            <a:off x="5074920" y="1325880"/>
            <a:ext cx="6583680" cy="502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Read prompts/03_backend_agent.md for your instructions and read</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design.md as your context. Follow the instructions and save your</a:t>
            </a:r>
            <a:endParaRPr/>
          </a:p>
          <a:p>
            <a:pPr indent="0" lvl="0" marL="0" marR="0" rtl="0" algn="l">
              <a:spcBef>
                <a:spcPts val="0"/>
              </a:spcBef>
              <a:spcAft>
                <a:spcPts val="0"/>
              </a:spcAft>
              <a:buNone/>
            </a:pPr>
            <a:r>
              <a:rPr lang="en-US" sz="900">
                <a:solidFill>
                  <a:srgbClr val="4EC9B0"/>
                </a:solidFill>
                <a:latin typeface="Courier New"/>
                <a:ea typeface="Courier New"/>
                <a:cs typeface="Courier New"/>
                <a:sym typeface="Courier New"/>
              </a:rPr>
              <a:t>complete output to backend_output.md.</a:t>
            </a:r>
            <a:endParaRPr/>
          </a:p>
        </p:txBody>
      </p:sp>
      <p:sp>
        <p:nvSpPr>
          <p:cNvPr id="298" name="Google Shape;298;p22"/>
          <p:cNvSpPr/>
          <p:nvPr/>
        </p:nvSpPr>
        <p:spPr>
          <a:xfrm>
            <a:off x="9875520" y="320040"/>
            <a:ext cx="1920240" cy="457200"/>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22"/>
          <p:cNvSpPr txBox="1"/>
          <p:nvPr/>
        </p:nvSpPr>
        <p:spPr>
          <a:xfrm>
            <a:off x="9921240" y="347472"/>
            <a:ext cx="182880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1E1E2E"/>
                </a:solidFill>
                <a:latin typeface="Calibri"/>
                <a:ea typeface="Calibri"/>
                <a:cs typeface="Calibri"/>
                <a:sym typeface="Calibri"/>
              </a:rPr>
              <a:t>▶  LIVE DEMO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04" name="Shape 304"/>
        <p:cNvGrpSpPr/>
        <p:nvPr/>
      </p:nvGrpSpPr>
      <p:grpSpPr>
        <a:xfrm>
          <a:off x="0" y="0"/>
          <a:ext cx="0" cy="0"/>
          <a:chOff x="0" y="0"/>
          <a:chExt cx="0" cy="0"/>
        </a:xfrm>
      </p:grpSpPr>
      <p:sp>
        <p:nvSpPr>
          <p:cNvPr id="305" name="Google Shape;305;p23"/>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23"/>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307" name="Google Shape;307;p23"/>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Exercise 3 — Backend Agent → backend_output.md → backend/</a:t>
            </a:r>
            <a:endParaRPr/>
          </a:p>
        </p:txBody>
      </p:sp>
      <p:sp>
        <p:nvSpPr>
          <p:cNvPr id="308" name="Google Shape;308;p23"/>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23"/>
          <p:cNvSpPr txBox="1"/>
          <p:nvPr/>
        </p:nvSpPr>
        <p:spPr>
          <a:xfrm>
            <a:off x="365760" y="1234440"/>
            <a:ext cx="4572000" cy="276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4EC9B0"/>
                </a:solidFill>
                <a:latin typeface="Calibri"/>
                <a:ea typeface="Calibri"/>
                <a:cs typeface="Calibri"/>
                <a:sym typeface="Calibri"/>
              </a:rPr>
              <a:t>Time: 10 minutes</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Confirm design.md exists</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In your Claude Code session, paste the instruction below</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Run extract script — splits output into real files in backend/</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Verify Application.kt and at least one route file exist on disk</a:t>
            </a:r>
            <a:endParaRPr sz="2000"/>
          </a:p>
        </p:txBody>
      </p:sp>
      <p:sp>
        <p:nvSpPr>
          <p:cNvPr id="310" name="Google Shape;310;p23"/>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3"/>
          <p:cNvSpPr txBox="1"/>
          <p:nvPr/>
        </p:nvSpPr>
        <p:spPr>
          <a:xfrm>
            <a:off x="5074920" y="1325880"/>
            <a:ext cx="6583800" cy="69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4EC9B0"/>
                </a:solidFill>
                <a:latin typeface="Courier New"/>
                <a:ea typeface="Courier New"/>
                <a:cs typeface="Courier New"/>
                <a:sym typeface="Courier New"/>
              </a:rPr>
              <a:t>Read prompts/03_backend_agent.md for your instructions and read</a:t>
            </a:r>
            <a:endParaRPr sz="1800"/>
          </a:p>
          <a:p>
            <a:pPr indent="0" lvl="0" marL="0" marR="0" rtl="0" algn="l">
              <a:spcBef>
                <a:spcPts val="0"/>
              </a:spcBef>
              <a:spcAft>
                <a:spcPts val="0"/>
              </a:spcAft>
              <a:buNone/>
            </a:pPr>
            <a:r>
              <a:rPr lang="en-US" sz="1300">
                <a:solidFill>
                  <a:srgbClr val="4EC9B0"/>
                </a:solidFill>
                <a:latin typeface="Courier New"/>
                <a:ea typeface="Courier New"/>
                <a:cs typeface="Courier New"/>
                <a:sym typeface="Courier New"/>
              </a:rPr>
              <a:t>design.md as your context. Follow the instructions and save your</a:t>
            </a:r>
            <a:endParaRPr sz="1800"/>
          </a:p>
          <a:p>
            <a:pPr indent="0" lvl="0" marL="0" marR="0" rtl="0" algn="l">
              <a:spcBef>
                <a:spcPts val="0"/>
              </a:spcBef>
              <a:spcAft>
                <a:spcPts val="0"/>
              </a:spcAft>
              <a:buNone/>
            </a:pPr>
            <a:r>
              <a:rPr lang="en-US" sz="1300">
                <a:solidFill>
                  <a:srgbClr val="4EC9B0"/>
                </a:solidFill>
                <a:latin typeface="Courier New"/>
                <a:ea typeface="Courier New"/>
                <a:cs typeface="Courier New"/>
                <a:sym typeface="Courier New"/>
              </a:rPr>
              <a:t>complete output to backend_output.md.</a:t>
            </a:r>
            <a:endParaRPr sz="1800"/>
          </a:p>
        </p:txBody>
      </p:sp>
      <p:sp>
        <p:nvSpPr>
          <p:cNvPr id="312" name="Google Shape;312;p23"/>
          <p:cNvSpPr/>
          <p:nvPr/>
        </p:nvSpPr>
        <p:spPr>
          <a:xfrm>
            <a:off x="9875520" y="320040"/>
            <a:ext cx="1920240" cy="457200"/>
          </a:xfrm>
          <a:prstGeom prst="rect">
            <a:avLst/>
          </a:prstGeom>
          <a:solidFill>
            <a:srgbClr val="FFD7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23"/>
          <p:cNvSpPr txBox="1"/>
          <p:nvPr/>
        </p:nvSpPr>
        <p:spPr>
          <a:xfrm>
            <a:off x="9921240" y="347472"/>
            <a:ext cx="182880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1E1E2E"/>
                </a:solidFill>
                <a:latin typeface="Calibri"/>
                <a:ea typeface="Calibri"/>
                <a:cs typeface="Calibri"/>
                <a:sym typeface="Calibri"/>
              </a:rPr>
              <a:t>✏  EXERCISE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18" name="Shape 318"/>
        <p:cNvGrpSpPr/>
        <p:nvPr/>
      </p:nvGrpSpPr>
      <p:grpSpPr>
        <a:xfrm>
          <a:off x="0" y="0"/>
          <a:ext cx="0" cy="0"/>
          <a:chOff x="0" y="0"/>
          <a:chExt cx="0" cy="0"/>
        </a:xfrm>
      </p:grpSpPr>
      <p:sp>
        <p:nvSpPr>
          <p:cNvPr id="319" name="Google Shape;319;p24"/>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24"/>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321" name="Google Shape;321;p24"/>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Running the Full Stack Locally</a:t>
            </a:r>
            <a:endParaRPr/>
          </a:p>
        </p:txBody>
      </p:sp>
      <p:sp>
        <p:nvSpPr>
          <p:cNvPr id="322" name="Google Shape;322;p24"/>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24"/>
          <p:cNvSpPr txBox="1"/>
          <p:nvPr/>
        </p:nvSpPr>
        <p:spPr>
          <a:xfrm>
            <a:off x="365760" y="1234440"/>
            <a:ext cx="4572000" cy="229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Two terminal tabs running simultaneously — one for each layer</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Frontend and backend run on different ports; Vite proxy connects them</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Terminal Tab 1 — Frontend (Vite dev server):</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Terminal Tab 2 — Backend (Kotlin + Ktor):</a:t>
            </a:r>
            <a:endParaRPr sz="1900"/>
          </a:p>
        </p:txBody>
      </p:sp>
      <p:sp>
        <p:nvSpPr>
          <p:cNvPr id="324" name="Google Shape;324;p24"/>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24"/>
          <p:cNvSpPr txBox="1"/>
          <p:nvPr/>
        </p:nvSpPr>
        <p:spPr>
          <a:xfrm>
            <a:off x="5074920" y="1325880"/>
            <a:ext cx="6583800" cy="69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4EC9B0"/>
                </a:solidFill>
                <a:latin typeface="Courier New"/>
                <a:ea typeface="Courier New"/>
                <a:cs typeface="Courier New"/>
                <a:sym typeface="Courier New"/>
              </a:rPr>
              <a:t>cd ~/my-project/frontend</a:t>
            </a:r>
            <a:endParaRPr sz="1800"/>
          </a:p>
          <a:p>
            <a:pPr indent="0" lvl="0" marL="0" marR="0" rtl="0" algn="l">
              <a:spcBef>
                <a:spcPts val="0"/>
              </a:spcBef>
              <a:spcAft>
                <a:spcPts val="0"/>
              </a:spcAft>
              <a:buNone/>
            </a:pPr>
            <a:r>
              <a:rPr lang="en-US" sz="1300">
                <a:solidFill>
                  <a:srgbClr val="4EC9B0"/>
                </a:solidFill>
                <a:latin typeface="Courier New"/>
                <a:ea typeface="Courier New"/>
                <a:cs typeface="Courier New"/>
                <a:sym typeface="Courier New"/>
              </a:rPr>
              <a:t>npm install        # first time only</a:t>
            </a:r>
            <a:endParaRPr sz="1800"/>
          </a:p>
          <a:p>
            <a:pPr indent="0" lvl="0" marL="0" marR="0" rtl="0" algn="l">
              <a:spcBef>
                <a:spcPts val="0"/>
              </a:spcBef>
              <a:spcAft>
                <a:spcPts val="0"/>
              </a:spcAft>
              <a:buNone/>
            </a:pPr>
            <a:r>
              <a:rPr lang="en-US" sz="1300">
                <a:solidFill>
                  <a:srgbClr val="4EC9B0"/>
                </a:solidFill>
                <a:latin typeface="Courier New"/>
                <a:ea typeface="Courier New"/>
                <a:cs typeface="Courier New"/>
                <a:sym typeface="Courier New"/>
              </a:rPr>
              <a:t>npm run dev        # starts at http://localhost:5173</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30" name="Shape 330"/>
        <p:cNvGrpSpPr/>
        <p:nvPr/>
      </p:nvGrpSpPr>
      <p:grpSpPr>
        <a:xfrm>
          <a:off x="0" y="0"/>
          <a:ext cx="0" cy="0"/>
          <a:chOff x="0" y="0"/>
          <a:chExt cx="0" cy="0"/>
        </a:xfrm>
      </p:grpSpPr>
      <p:sp>
        <p:nvSpPr>
          <p:cNvPr id="331" name="Google Shape;331;p25"/>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25"/>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333" name="Google Shape;333;p25"/>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The Review Agent</a:t>
            </a:r>
            <a:endParaRPr/>
          </a:p>
        </p:txBody>
      </p:sp>
      <p:sp>
        <p:nvSpPr>
          <p:cNvPr id="334" name="Google Shape;334;p25"/>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25"/>
          <p:cNvSpPr txBox="1"/>
          <p:nvPr/>
        </p:nvSpPr>
        <p:spPr>
          <a:xfrm>
            <a:off x="457200" y="1280160"/>
            <a:ext cx="11247000" cy="4166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rgbClr val="4EC9B0"/>
                </a:solidFill>
                <a:latin typeface="Calibri"/>
                <a:ea typeface="Calibri"/>
                <a:cs typeface="Calibri"/>
                <a:sym typeface="Calibri"/>
              </a:rPr>
              <a:t>Prompt file:: </a:t>
            </a:r>
            <a:r>
              <a:rPr lang="en-US" sz="1900">
                <a:solidFill>
                  <a:srgbClr val="CCCCCC"/>
                </a:solidFill>
                <a:latin typeface="Calibri"/>
                <a:ea typeface="Calibri"/>
                <a:cs typeface="Calibri"/>
                <a:sym typeface="Calibri"/>
              </a:rPr>
              <a:t>`prompts/04_review_agent.md`</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Reads:: </a:t>
            </a:r>
            <a:r>
              <a:rPr lang="en-US" sz="1900">
                <a:solidFill>
                  <a:srgbClr val="CCCCCC"/>
                </a:solidFill>
                <a:latin typeface="Calibri"/>
                <a:ea typeface="Calibri"/>
                <a:cs typeface="Calibri"/>
                <a:sym typeface="Calibri"/>
              </a:rPr>
              <a:t>`design.md` + `frontend_output.md` + `backend_output.md` (all three)</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This is the only agent that reads multiple files as context</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Saves:: </a:t>
            </a:r>
            <a:r>
              <a:rPr lang="en-US" sz="1900">
                <a:solidFill>
                  <a:srgbClr val="CCCCCC"/>
                </a:solidFill>
                <a:latin typeface="Calibri"/>
                <a:ea typeface="Calibri"/>
                <a:cs typeface="Calibri"/>
                <a:sym typeface="Calibri"/>
              </a:rPr>
              <a:t>`REVIEW.md` — structured audit with prioritized fixes</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Then opens a GitHub Pull Request: </a:t>
            </a:r>
            <a:r>
              <a:rPr lang="en-US" sz="1900">
                <a:solidFill>
                  <a:srgbClr val="CCCCCC"/>
                </a:solidFill>
                <a:latin typeface="Calibri"/>
                <a:ea typeface="Calibri"/>
                <a:cs typeface="Calibri"/>
                <a:sym typeface="Calibri"/>
              </a:rPr>
              <a:t>— `fix/review-agent` branch → `main`</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Sections in REVIEW.md (also the PR body):</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 Contract Audit — did frontend and backend implement the same API spec?</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 Priority 1 — fix before running (will cause crashes)</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 Priority 2 — fix before shipping (will cause bugs)</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 Quick Win — highest-impact change in under 10 minutes</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PR comments:: </a:t>
            </a:r>
            <a:r>
              <a:rPr lang="en-US" sz="1900">
                <a:solidFill>
                  <a:srgbClr val="CCCCCC"/>
                </a:solidFill>
                <a:latin typeface="Calibri"/>
                <a:ea typeface="Calibri"/>
                <a:cs typeface="Calibri"/>
                <a:sym typeface="Calibri"/>
              </a:rPr>
              <a:t>one 🔴 comment per P1 issue, one 🟡 comment per P2 issue</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You must approve and merge the PR: </a:t>
            </a:r>
            <a:r>
              <a:rPr lang="en-US" sz="1900">
                <a:solidFill>
                  <a:srgbClr val="CCCCCC"/>
                </a:solidFill>
                <a:latin typeface="Calibri"/>
                <a:ea typeface="Calibri"/>
                <a:cs typeface="Calibri"/>
                <a:sym typeface="Calibri"/>
              </a:rPr>
              <a:t>— the agent does not merge automatically</a:t>
            </a:r>
            <a:endParaRPr sz="19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40" name="Shape 340"/>
        <p:cNvGrpSpPr/>
        <p:nvPr/>
      </p:nvGrpSpPr>
      <p:grpSpPr>
        <a:xfrm>
          <a:off x="0" y="0"/>
          <a:ext cx="0" cy="0"/>
          <a:chOff x="0" y="0"/>
          <a:chExt cx="0" cy="0"/>
        </a:xfrm>
      </p:grpSpPr>
      <p:sp>
        <p:nvSpPr>
          <p:cNvPr id="341" name="Google Shape;341;p26"/>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26"/>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343" name="Google Shape;343;p26"/>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The Intentional Bug — Why It's There</a:t>
            </a:r>
            <a:endParaRPr/>
          </a:p>
        </p:txBody>
      </p:sp>
      <p:sp>
        <p:nvSpPr>
          <p:cNvPr id="344" name="Google Shape;344;p26"/>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26"/>
          <p:cNvSpPr txBox="1"/>
          <p:nvPr/>
        </p:nvSpPr>
        <p:spPr>
          <a:xfrm>
            <a:off x="457200" y="1280160"/>
            <a:ext cx="11247000" cy="3273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The backend agent is instructed to introduce exactly one logical bug</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It compiles without errors and does not prevent the app from starting</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It is subtle — a wrong calculation, status code, or comparator</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Why?: </a:t>
            </a:r>
            <a:r>
              <a:rPr lang="en-US" sz="2000">
                <a:solidFill>
                  <a:srgbClr val="CCCCCC"/>
                </a:solidFill>
                <a:latin typeface="Calibri"/>
                <a:ea typeface="Calibri"/>
                <a:cs typeface="Calibri"/>
                <a:sym typeface="Calibri"/>
              </a:rPr>
              <a:t>Code review is a skill — you need real bugs to practice finding them</a:t>
            </a:r>
            <a:endParaRPr sz="2000"/>
          </a:p>
          <a:p>
            <a:pPr indent="0" lvl="0" marL="0" marR="0" rtl="0" algn="l">
              <a:spcBef>
                <a:spcPts val="400"/>
              </a:spcBef>
              <a:spcAft>
                <a:spcPts val="0"/>
              </a:spcAft>
              <a:buNone/>
            </a:pPr>
            <a:r>
              <a:rPr b="1" lang="en-US" sz="2000">
                <a:solidFill>
                  <a:srgbClr val="4EC9B0"/>
                </a:solidFill>
                <a:latin typeface="Calibri"/>
                <a:ea typeface="Calibri"/>
                <a:cs typeface="Calibri"/>
                <a:sym typeface="Calibri"/>
              </a:rPr>
              <a:t>What to expect:</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Your app runs but something is slightly wrong (e.g. a balance shows the wrong sign)</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REVIEW.md will list the bug under ## Priority 1 or ## Priority 2</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The fix/review-agent PR will contain the corrected code</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Your job: read the PR comment, understand *why* it was wrong, then approve the merge</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50" name="Shape 350"/>
        <p:cNvGrpSpPr/>
        <p:nvPr/>
      </p:nvGrpSpPr>
      <p:grpSpPr>
        <a:xfrm>
          <a:off x="0" y="0"/>
          <a:ext cx="0" cy="0"/>
          <a:chOff x="0" y="0"/>
          <a:chExt cx="0" cy="0"/>
        </a:xfrm>
      </p:grpSpPr>
      <p:sp>
        <p:nvSpPr>
          <p:cNvPr id="351" name="Google Shape;351;p27"/>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27"/>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353" name="Google Shape;353;p27"/>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The Review PR Workflow</a:t>
            </a:r>
            <a:endParaRPr/>
          </a:p>
        </p:txBody>
      </p:sp>
      <p:sp>
        <p:nvSpPr>
          <p:cNvPr id="354" name="Google Shape;354;p27"/>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27"/>
          <p:cNvSpPr txBox="1"/>
          <p:nvPr/>
        </p:nvSpPr>
        <p:spPr>
          <a:xfrm>
            <a:off x="365760" y="1234440"/>
            <a:ext cx="4572000" cy="465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After running the review agent, a Pull Request appears on your GitHub repo</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This is a real PR — you review it like any professional code change</a:t>
            </a:r>
            <a:endParaRPr sz="1800"/>
          </a:p>
          <a:p>
            <a:pPr indent="0" lvl="0" marL="0" marR="0" rtl="0" algn="l">
              <a:spcBef>
                <a:spcPts val="400"/>
              </a:spcBef>
              <a:spcAft>
                <a:spcPts val="0"/>
              </a:spcAft>
              <a:buNone/>
            </a:pPr>
            <a:r>
              <a:rPr b="1" lang="en-US" sz="1800">
                <a:solidFill>
                  <a:srgbClr val="4EC9B0"/>
                </a:solidFill>
                <a:latin typeface="Calibri"/>
                <a:ea typeface="Calibri"/>
                <a:cs typeface="Calibri"/>
                <a:sym typeface="Calibri"/>
              </a:rPr>
              <a:t>Steps for the student:</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Open the PR URL printed at the end of /build-app</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Read REVIEW.md (shown as PR body) — understand what was found</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Review the diff — can you spot the intentional bug before reading the comments?</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Read each PR comment — 🔴 Priority 1, 🟡 Priority 2</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Approve and merge</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git pull origin main to get the fixes locally</a:t>
            </a:r>
            <a:endParaRPr sz="1800"/>
          </a:p>
        </p:txBody>
      </p:sp>
      <p:sp>
        <p:nvSpPr>
          <p:cNvPr id="356" name="Google Shape;356;p27"/>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27"/>
          <p:cNvSpPr txBox="1"/>
          <p:nvPr/>
        </p:nvSpPr>
        <p:spPr>
          <a:xfrm>
            <a:off x="5074920" y="1325880"/>
            <a:ext cx="6583800" cy="263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main branch  (your generated app, pushed in Step 4)</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fix/review-agent  (branch created by review agent)</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Priority 1 fix applied</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Priority 2 fix applied</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 One PR comment per issue</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YOU review the diff</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YOU read the comments</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YOU approve + merge</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git pull origin main</a:t>
            </a:r>
            <a:endParaRPr sz="1600"/>
          </a:p>
          <a:p>
            <a:pPr indent="0" lvl="0" marL="0" marR="0" rtl="0" algn="l">
              <a:spcBef>
                <a:spcPts val="0"/>
              </a:spcBef>
              <a:spcAft>
                <a:spcPts val="0"/>
              </a:spcAft>
              <a:buNone/>
            </a:pPr>
            <a:r>
              <a:rPr lang="en-US" sz="1100">
                <a:solidFill>
                  <a:srgbClr val="4EC9B0"/>
                </a:solidFill>
                <a:latin typeface="Courier New"/>
                <a:ea typeface="Courier New"/>
                <a:cs typeface="Courier New"/>
                <a:sym typeface="Courier New"/>
              </a:rPr>
              <a:t>            (get fixes locally)</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61" name="Shape 361"/>
        <p:cNvGrpSpPr/>
        <p:nvPr/>
      </p:nvGrpSpPr>
      <p:grpSpPr>
        <a:xfrm>
          <a:off x="0" y="0"/>
          <a:ext cx="0" cy="0"/>
          <a:chOff x="0" y="0"/>
          <a:chExt cx="0" cy="0"/>
        </a:xfrm>
      </p:grpSpPr>
      <p:sp>
        <p:nvSpPr>
          <p:cNvPr id="362" name="Google Shape;362;p28"/>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8"/>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364" name="Google Shape;364;p28"/>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What is a Claude Code Skill?</a:t>
            </a:r>
            <a:endParaRPr/>
          </a:p>
        </p:txBody>
      </p:sp>
      <p:sp>
        <p:nvSpPr>
          <p:cNvPr id="365" name="Google Shape;365;p28"/>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28"/>
          <p:cNvSpPr txBox="1"/>
          <p:nvPr/>
        </p:nvSpPr>
        <p:spPr>
          <a:xfrm>
            <a:off x="457200" y="1280160"/>
            <a:ext cx="11247000" cy="183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A skill is a reusable, installable command that extends Claude Code</a:t>
            </a:r>
            <a:endParaRPr sz="18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Differs from a prompt file: skills are registered with Claude Code and invoked by name</a:t>
            </a:r>
            <a:endParaRPr sz="18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Skills have metadata: name, description, and argument definitions</a:t>
            </a:r>
            <a:endParaRPr sz="18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Once installed, invoke with a slash command: /build-app "Habit Tracker"</a:t>
            </a:r>
            <a:endParaRPr sz="18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Our /build-app skill wraps all four agents into one repeatable workflow</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71" name="Shape 371"/>
        <p:cNvGrpSpPr/>
        <p:nvPr/>
      </p:nvGrpSpPr>
      <p:grpSpPr>
        <a:xfrm>
          <a:off x="0" y="0"/>
          <a:ext cx="0" cy="0"/>
          <a:chOff x="0" y="0"/>
          <a:chExt cx="0" cy="0"/>
        </a:xfrm>
      </p:grpSpPr>
      <p:sp>
        <p:nvSpPr>
          <p:cNvPr id="372" name="Google Shape;372;p29"/>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29"/>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374" name="Google Shape;374;p29"/>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Building the /build-app Skill</a:t>
            </a:r>
            <a:endParaRPr/>
          </a:p>
        </p:txBody>
      </p:sp>
      <p:sp>
        <p:nvSpPr>
          <p:cNvPr id="375" name="Google Shape;375;p29"/>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29"/>
          <p:cNvSpPr txBox="1"/>
          <p:nvPr/>
        </p:nvSpPr>
        <p:spPr>
          <a:xfrm>
            <a:off x="365760" y="1234440"/>
            <a:ext cx="4572000" cy="306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Skill file: skills/build-app.md — install once, use forever</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The skill chains all 7 steps, saving each output before starting the next</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{{project_idea}} is substituted when you invoke it</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Install: claude skill install skills/build-app.md</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Invoke: /build-app "habit tracker"</a:t>
            </a:r>
            <a:endParaRPr sz="2000"/>
          </a:p>
        </p:txBody>
      </p:sp>
      <p:sp>
        <p:nvSpPr>
          <p:cNvPr id="377" name="Google Shape;377;p29"/>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9"/>
          <p:cNvSpPr txBox="1"/>
          <p:nvPr/>
        </p:nvSpPr>
        <p:spPr>
          <a:xfrm>
            <a:off x="5074920" y="1325880"/>
            <a:ext cx="65838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&lt;!-- skills/build-app.md — the 7-step chain --&gt;</a:t>
            </a:r>
            <a:endParaRPr sz="1700"/>
          </a:p>
          <a:p>
            <a:pPr indent="0" lvl="0" marL="0" marR="0" rtl="0" algn="l">
              <a:spcBef>
                <a:spcPts val="0"/>
              </a:spcBef>
              <a:spcAft>
                <a:spcPts val="0"/>
              </a:spcAft>
              <a:buNone/>
            </a:pPr>
            <a:r>
              <a:t/>
            </a:r>
            <a:endParaRPr sz="12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Step 1: design agent      → saves design.md</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Step 2: frontend agent    → saves frontend_output.md + extracts frontend/</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Step 3: backend agent     → saves backend_output.md  + extracts backend/ (+ 1 bug)</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Step 4: GitHub            → creates repo, pushes to main</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Step 5: review agent      → saves REVIEW.md + opens fix/review-agent PR</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Step 6: writes RUNBOOK.md</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Step 7: prints summary with GitHub repo URL and PR link</a:t>
            </a:r>
            <a:endParaRPr sz="17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83" name="Shape 383"/>
        <p:cNvGrpSpPr/>
        <p:nvPr/>
      </p:nvGrpSpPr>
      <p:grpSpPr>
        <a:xfrm>
          <a:off x="0" y="0"/>
          <a:ext cx="0" cy="0"/>
          <a:chOff x="0" y="0"/>
          <a:chExt cx="0" cy="0"/>
        </a:xfrm>
      </p:grpSpPr>
      <p:sp>
        <p:nvSpPr>
          <p:cNvPr id="384" name="Google Shape;384;p30"/>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30"/>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386" name="Google Shape;386;p30"/>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Exercise 4 — Review and Merge the Fix PR</a:t>
            </a:r>
            <a:endParaRPr/>
          </a:p>
        </p:txBody>
      </p:sp>
      <p:sp>
        <p:nvSpPr>
          <p:cNvPr id="387" name="Google Shape;387;p30"/>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30"/>
          <p:cNvSpPr txBox="1"/>
          <p:nvPr/>
        </p:nvSpPr>
        <p:spPr>
          <a:xfrm>
            <a:off x="365760" y="1234440"/>
            <a:ext cx="4572000" cy="445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4EC9B0"/>
                </a:solidFill>
                <a:latin typeface="Calibri"/>
                <a:ea typeface="Calibri"/>
                <a:cs typeface="Calibri"/>
                <a:sym typeface="Calibri"/>
              </a:rPr>
              <a:t>Time: 10 minutes</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Find the PR URL in the summary printed by the skill</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Open it on github.com — read REVIEW.md as the PR description</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Click through the Files changed tab — review every diff</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Read each PR comment (🔴 Priority 1, 🟡 Priority 2) — do you agree with the fix?</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Can you spot the intentional bug before reading the fix?</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Approve and merge the PR</a:t>
            </a:r>
            <a:endParaRPr sz="2000"/>
          </a:p>
          <a:p>
            <a:pPr indent="0" lvl="0" marL="0" marR="0" rtl="0" algn="l">
              <a:spcBef>
                <a:spcPts val="400"/>
              </a:spcBef>
              <a:spcAft>
                <a:spcPts val="0"/>
              </a:spcAft>
              <a:buNone/>
            </a:pPr>
            <a:r>
              <a:rPr lang="en-US" sz="2000">
                <a:solidFill>
                  <a:srgbClr val="895BF5"/>
                </a:solidFill>
                <a:latin typeface="Calibri"/>
                <a:ea typeface="Calibri"/>
                <a:cs typeface="Calibri"/>
                <a:sym typeface="Calibri"/>
              </a:rPr>
              <a:t>▸  </a:t>
            </a:r>
            <a:r>
              <a:rPr lang="en-US" sz="2000">
                <a:solidFill>
                  <a:srgbClr val="CCCCCC"/>
                </a:solidFill>
                <a:latin typeface="Calibri"/>
                <a:ea typeface="Calibri"/>
                <a:cs typeface="Calibri"/>
                <a:sym typeface="Calibri"/>
              </a:rPr>
              <a:t>Pull the fixes to your local machine</a:t>
            </a:r>
            <a:endParaRPr sz="2000"/>
          </a:p>
        </p:txBody>
      </p:sp>
      <p:sp>
        <p:nvSpPr>
          <p:cNvPr id="389" name="Google Shape;389;p30"/>
          <p:cNvSpPr/>
          <p:nvPr/>
        </p:nvSpPr>
        <p:spPr>
          <a:xfrm>
            <a:off x="4937760" y="1234440"/>
            <a:ext cx="6858000" cy="5212080"/>
          </a:xfrm>
          <a:prstGeom prst="rect">
            <a:avLst/>
          </a:prstGeom>
          <a:solidFill>
            <a:srgbClr val="2D2D3F"/>
          </a:solidFill>
          <a:ln cap="flat" cmpd="sng" w="12700">
            <a:solidFill>
              <a:srgbClr val="4E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30"/>
          <p:cNvSpPr txBox="1"/>
          <p:nvPr/>
        </p:nvSpPr>
        <p:spPr>
          <a:xfrm>
            <a:off x="5074920" y="1325880"/>
            <a:ext cx="65838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 After merging on GitHub:</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git pull origin main</a:t>
            </a:r>
            <a:endParaRPr sz="1700"/>
          </a:p>
          <a:p>
            <a:pPr indent="0" lvl="0" marL="0" marR="0" rtl="0" algn="l">
              <a:spcBef>
                <a:spcPts val="0"/>
              </a:spcBef>
              <a:spcAft>
                <a:spcPts val="0"/>
              </a:spcAft>
              <a:buNone/>
            </a:pPr>
            <a:r>
              <a:t/>
            </a:r>
            <a:endParaRPr sz="1200">
              <a:solidFill>
                <a:srgbClr val="4EC9B0"/>
              </a:solidFill>
              <a:latin typeface="Courier New"/>
              <a:ea typeface="Courier New"/>
              <a:cs typeface="Courier New"/>
              <a:sym typeface="Courier New"/>
            </a:endParaRPr>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 Confirm the fix landed</a:t>
            </a:r>
            <a:endParaRPr sz="1700"/>
          </a:p>
          <a:p>
            <a:pPr indent="0" lvl="0" marL="0" marR="0" rtl="0" algn="l">
              <a:spcBef>
                <a:spcPts val="0"/>
              </a:spcBef>
              <a:spcAft>
                <a:spcPts val="0"/>
              </a:spcAft>
              <a:buNone/>
            </a:pPr>
            <a:r>
              <a:rPr lang="en-US" sz="1200">
                <a:solidFill>
                  <a:srgbClr val="4EC9B0"/>
                </a:solidFill>
                <a:latin typeface="Courier New"/>
                <a:ea typeface="Courier New"/>
                <a:cs typeface="Courier New"/>
                <a:sym typeface="Courier New"/>
              </a:rPr>
              <a:t>git log --oneline -3</a:t>
            </a:r>
            <a:endParaRPr sz="1700"/>
          </a:p>
        </p:txBody>
      </p:sp>
      <p:sp>
        <p:nvSpPr>
          <p:cNvPr id="391" name="Google Shape;391;p30"/>
          <p:cNvSpPr/>
          <p:nvPr/>
        </p:nvSpPr>
        <p:spPr>
          <a:xfrm>
            <a:off x="9875520" y="320040"/>
            <a:ext cx="1920240" cy="457200"/>
          </a:xfrm>
          <a:prstGeom prst="rect">
            <a:avLst/>
          </a:prstGeom>
          <a:solidFill>
            <a:srgbClr val="FFD7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30"/>
          <p:cNvSpPr txBox="1"/>
          <p:nvPr/>
        </p:nvSpPr>
        <p:spPr>
          <a:xfrm>
            <a:off x="9921240" y="347472"/>
            <a:ext cx="182880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1E1E2E"/>
                </a:solidFill>
                <a:latin typeface="Calibri"/>
                <a:ea typeface="Calibri"/>
                <a:cs typeface="Calibri"/>
                <a:sym typeface="Calibri"/>
              </a:rPr>
              <a:t>✏  EXERCISE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397" name="Shape 397"/>
        <p:cNvGrpSpPr/>
        <p:nvPr/>
      </p:nvGrpSpPr>
      <p:grpSpPr>
        <a:xfrm>
          <a:off x="0" y="0"/>
          <a:ext cx="0" cy="0"/>
          <a:chOff x="0" y="0"/>
          <a:chExt cx="0" cy="0"/>
        </a:xfrm>
      </p:grpSpPr>
      <p:sp>
        <p:nvSpPr>
          <p:cNvPr id="398" name="Google Shape;398;p31"/>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31"/>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400" name="Google Shape;400;p31"/>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Final Demo + Debrief</a:t>
            </a:r>
            <a:endParaRPr/>
          </a:p>
        </p:txBody>
      </p:sp>
      <p:sp>
        <p:nvSpPr>
          <p:cNvPr id="401" name="Google Shape;401;p31"/>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31"/>
          <p:cNvSpPr txBox="1"/>
          <p:nvPr/>
        </p:nvSpPr>
        <p:spPr>
          <a:xfrm>
            <a:off x="457200" y="1280160"/>
            <a:ext cx="11247000" cy="458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4EC9B0"/>
                </a:solidFill>
                <a:latin typeface="Calibri"/>
                <a:ea typeface="Calibri"/>
                <a:cs typeface="Calibri"/>
                <a:sym typeface="Calibri"/>
              </a:rPr>
              <a:t>Live volunteer demo (5 minutes):</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One volunteer shares screen and shows their running app at localhost:5173</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Walk through: UI in browser → network request → backend route → SQLite query</a:t>
            </a:r>
            <a:endParaRPr sz="1800"/>
          </a:p>
          <a:p>
            <a:pPr indent="0" lvl="0" marL="0" marR="0" rtl="0" algn="l">
              <a:spcBef>
                <a:spcPts val="400"/>
              </a:spcBef>
              <a:spcAft>
                <a:spcPts val="0"/>
              </a:spcAft>
              <a:buNone/>
            </a:pPr>
            <a:r>
              <a:rPr b="1" lang="en-US" sz="1800">
                <a:solidFill>
                  <a:srgbClr val="4EC9B0"/>
                </a:solidFill>
                <a:latin typeface="Calibri"/>
                <a:ea typeface="Calibri"/>
                <a:cs typeface="Calibri"/>
                <a:sym typeface="Calibri"/>
              </a:rPr>
              <a:t>Discussion Questions:</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Where in the pipeline did the AI produce the most useful output? Where was it weakest?</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What would you change in your design.md to get a better result from the frontend or backend agent?</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How would you extend this pipeline — what fifth agent would you add, and what would it do?</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The review agent found a bug the backend agent intentionally introduced. Could you tell it was intentional? What made it hard to spot?</a:t>
            </a:r>
            <a:endParaRPr sz="1800"/>
          </a:p>
          <a:p>
            <a:pPr indent="0" lvl="0" marL="0" marR="0" rtl="0" algn="l">
              <a:spcBef>
                <a:spcPts val="400"/>
              </a:spcBef>
              <a:spcAft>
                <a:spcPts val="0"/>
              </a:spcAft>
              <a:buNone/>
            </a:pPr>
            <a:r>
              <a:rPr b="1" lang="en-US" sz="1800">
                <a:solidFill>
                  <a:srgbClr val="4EC9B0"/>
                </a:solidFill>
                <a:latin typeface="Calibri"/>
                <a:ea typeface="Calibri"/>
                <a:cs typeface="Calibri"/>
                <a:sym typeface="Calibri"/>
              </a:rPr>
              <a:t>What to build next:</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Add user authentication (auth-agent prompt)</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Deploy to Railway or Render using a deploy-agent</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Add a test-agent that writes Vitest and Ktor test suites automatically</a:t>
            </a:r>
            <a:endParaRPr sz="1800"/>
          </a:p>
          <a:p>
            <a:pPr indent="0" lvl="0" marL="0" marR="0" rtl="0" algn="l">
              <a:spcBef>
                <a:spcPts val="400"/>
              </a:spcBef>
              <a:spcAft>
                <a:spcPts val="0"/>
              </a:spcAft>
              <a:buNone/>
            </a:pPr>
            <a:r>
              <a:rPr lang="en-US" sz="1800">
                <a:solidFill>
                  <a:srgbClr val="895BF5"/>
                </a:solidFill>
                <a:latin typeface="Calibri"/>
                <a:ea typeface="Calibri"/>
                <a:cs typeface="Calibri"/>
                <a:sym typeface="Calibri"/>
              </a:rPr>
              <a:t>▸  </a:t>
            </a:r>
            <a:r>
              <a:rPr lang="en-US" sz="1800">
                <a:solidFill>
                  <a:srgbClr val="CCCCCC"/>
                </a:solidFill>
                <a:latin typeface="Calibri"/>
                <a:ea typeface="Calibri"/>
                <a:cs typeface="Calibri"/>
                <a:sym typeface="Calibri"/>
              </a:rPr>
              <a:t>Build a different project idea using /build-app — it takes 5 minutes now</a:t>
            </a:r>
            <a:endParaRPr sz="1800"/>
          </a:p>
        </p:txBody>
      </p:sp>
      <p:sp>
        <p:nvSpPr>
          <p:cNvPr id="403" name="Google Shape;403;p31"/>
          <p:cNvSpPr/>
          <p:nvPr/>
        </p:nvSpPr>
        <p:spPr>
          <a:xfrm>
            <a:off x="9875520" y="320040"/>
            <a:ext cx="1920240" cy="457200"/>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31"/>
          <p:cNvSpPr txBox="1"/>
          <p:nvPr/>
        </p:nvSpPr>
        <p:spPr>
          <a:xfrm>
            <a:off x="9921240" y="347472"/>
            <a:ext cx="182880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1E1E2E"/>
                </a:solidFill>
                <a:latin typeface="Calibri"/>
                <a:ea typeface="Calibri"/>
                <a:cs typeface="Calibri"/>
                <a:sym typeface="Calibri"/>
              </a:rPr>
              <a:t>▶  LIVE DEMO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2E"/>
        </a:solidFill>
      </p:bgPr>
    </p:bg>
    <p:spTree>
      <p:nvGrpSpPr>
        <p:cNvPr id="409" name="Shape 409"/>
        <p:cNvGrpSpPr/>
        <p:nvPr/>
      </p:nvGrpSpPr>
      <p:grpSpPr>
        <a:xfrm>
          <a:off x="0" y="0"/>
          <a:ext cx="0" cy="0"/>
          <a:chOff x="0" y="0"/>
          <a:chExt cx="0" cy="0"/>
        </a:xfrm>
      </p:grpSpPr>
      <p:sp>
        <p:nvSpPr>
          <p:cNvPr id="410" name="Google Shape;410;p32"/>
          <p:cNvSpPr/>
          <p:nvPr/>
        </p:nvSpPr>
        <p:spPr>
          <a:xfrm>
            <a:off x="0" y="0"/>
            <a:ext cx="2194560" cy="292608"/>
          </a:xfrm>
          <a:prstGeom prst="rect">
            <a:avLst/>
          </a:prstGeom>
          <a:solidFill>
            <a:srgbClr val="4EC9B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32"/>
          <p:cNvSpPr txBox="1"/>
          <p:nvPr/>
        </p:nvSpPr>
        <p:spPr>
          <a:xfrm>
            <a:off x="91440" y="18288"/>
            <a:ext cx="201168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FFFFFF"/>
                </a:solidFill>
                <a:latin typeface="Calibri"/>
                <a:ea typeface="Calibri"/>
                <a:cs typeface="Calibri"/>
                <a:sym typeface="Calibri"/>
              </a:rPr>
              <a:t>CLASS 2</a:t>
            </a:r>
            <a:endParaRPr/>
          </a:p>
        </p:txBody>
      </p:sp>
      <p:sp>
        <p:nvSpPr>
          <p:cNvPr id="412" name="Google Shape;412;p32"/>
          <p:cNvSpPr txBox="1"/>
          <p:nvPr/>
        </p:nvSpPr>
        <p:spPr>
          <a:xfrm>
            <a:off x="365760" y="320040"/>
            <a:ext cx="114300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Resources + Next Steps</a:t>
            </a:r>
            <a:endParaRPr/>
          </a:p>
        </p:txBody>
      </p:sp>
      <p:sp>
        <p:nvSpPr>
          <p:cNvPr id="413" name="Google Shape;413;p32"/>
          <p:cNvSpPr/>
          <p:nvPr/>
        </p:nvSpPr>
        <p:spPr>
          <a:xfrm>
            <a:off x="365760" y="1143000"/>
            <a:ext cx="11430000" cy="27432"/>
          </a:xfrm>
          <a:prstGeom prst="rect">
            <a:avLst/>
          </a:prstGeom>
          <a:solidFill>
            <a:srgbClr val="895BF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32"/>
          <p:cNvSpPr txBox="1"/>
          <p:nvPr/>
        </p:nvSpPr>
        <p:spPr>
          <a:xfrm>
            <a:off x="457200" y="1280160"/>
            <a:ext cx="11247000" cy="485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rgbClr val="4EC9B0"/>
                </a:solidFill>
                <a:latin typeface="Calibri"/>
                <a:ea typeface="Calibri"/>
                <a:cs typeface="Calibri"/>
                <a:sym typeface="Calibri"/>
              </a:rPr>
              <a:t>Official Docs:</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Claude Code CLI: docs.anthropic.com/claude-code</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React + Vite: vitejs.dev/guide and react.dev</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Ktor: ktor.io/docs — routing, plugins, and deployment guide</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Exposed ORM: jetbrains.github.io/Exposed — Kotlin SQL framework</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SQLite JDBC: xerial.github.io/sqlite-jdbc</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Suggested Extensions:</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Add authentication: JWT with io.ktor:ktor-server-auth-jwt</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Deploy for free: Railway (railway.app) or Render (render.com)</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Add a test suite: Vitest for React, Ktor testApplication {} for the backend</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CI/CD: GitHub Actions workflow to run ./gradlew test on every push</a:t>
            </a:r>
            <a:endParaRPr sz="1900"/>
          </a:p>
          <a:p>
            <a:pPr indent="0" lvl="0" marL="0" marR="0" rtl="0" algn="l">
              <a:spcBef>
                <a:spcPts val="400"/>
              </a:spcBef>
              <a:spcAft>
                <a:spcPts val="0"/>
              </a:spcAft>
              <a:buNone/>
            </a:pPr>
            <a:r>
              <a:rPr b="1" lang="en-US" sz="1900">
                <a:solidFill>
                  <a:srgbClr val="4EC9B0"/>
                </a:solidFill>
                <a:latin typeface="Calibri"/>
                <a:ea typeface="Calibri"/>
                <a:cs typeface="Calibri"/>
                <a:sym typeface="Calibri"/>
              </a:rPr>
              <a:t>Community:</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Anthropic Discord: discord.gg/anthropic</a:t>
            </a:r>
            <a:endParaRPr sz="1900"/>
          </a:p>
          <a:p>
            <a:pPr indent="0" lvl="0" marL="0" marR="0" rtl="0" algn="l">
              <a:spcBef>
                <a:spcPts val="400"/>
              </a:spcBef>
              <a:spcAft>
                <a:spcPts val="0"/>
              </a:spcAft>
              <a:buNone/>
            </a:pPr>
            <a:r>
              <a:rPr lang="en-US" sz="1900">
                <a:solidFill>
                  <a:srgbClr val="895BF5"/>
                </a:solidFill>
                <a:latin typeface="Calibri"/>
                <a:ea typeface="Calibri"/>
                <a:cs typeface="Calibri"/>
                <a:sym typeface="Calibri"/>
              </a:rPr>
              <a:t>▸  </a:t>
            </a:r>
            <a:r>
              <a:rPr lang="en-US" sz="1900">
                <a:solidFill>
                  <a:srgbClr val="CCCCCC"/>
                </a:solidFill>
                <a:latin typeface="Calibri"/>
                <a:ea typeface="Calibri"/>
                <a:cs typeface="Calibri"/>
                <a:sym typeface="Calibri"/>
              </a:rPr>
              <a:t>Claude Code GitHub Issues: github.com/anthropics/claude-code</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